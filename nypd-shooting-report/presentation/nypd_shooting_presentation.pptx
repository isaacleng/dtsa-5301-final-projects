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b4e6889151e4499" /><Relationship Type="http://schemas.openxmlformats.org/officeDocument/2006/relationships/extended-properties" Target="/docProps/app.xml" Id="R6673e4c06f6d415f" /><Relationship Type="http://schemas.openxmlformats.org/officeDocument/2006/relationships/officeDocument" Target="/ppt/presentation.xml" Id="R55d9615226f34c75" /></Relationships>
</file>

<file path=ppt/presentation.xml><?xml version="1.0" encoding="utf-8"?>
<p:presentation xmlns:p="http://schemas.openxmlformats.org/presentationml/2006/main">
  <p:sldMasterIdLst>
    <p:sldMasterId xmlns:r="http://schemas.openxmlformats.org/officeDocument/2006/relationships" id="2147483648" r:id="R5330271b104c4233"/>
  </p:sldMasterIdLst>
  <p:notesMasterIdLst>
    <p:notesMasterId xmlns:r="http://schemas.openxmlformats.org/officeDocument/2006/relationships" r:id="Rb7646c527e1941e7"/>
  </p:notesMasterIdLst>
  <p:sldIdLst>
    <p:sldId xmlns:r="http://schemas.openxmlformats.org/officeDocument/2006/relationships" id="256" r:id="Rb210d319a0e34c82"/>
    <p:sldId xmlns:r="http://schemas.openxmlformats.org/officeDocument/2006/relationships" id="257" r:id="Rb024007422244416"/>
    <p:sldId xmlns:r="http://schemas.openxmlformats.org/officeDocument/2006/relationships" id="258" r:id="Rf32e0cd45a754708"/>
    <p:sldId xmlns:r="http://schemas.openxmlformats.org/officeDocument/2006/relationships" id="259" r:id="R70eac2d62e594c3a"/>
    <p:sldId xmlns:r="http://schemas.openxmlformats.org/officeDocument/2006/relationships" id="260" r:id="R0238439c87424ea4"/>
    <p:sldId xmlns:r="http://schemas.openxmlformats.org/officeDocument/2006/relationships" id="261" r:id="Rbc273fa6b9d74806"/>
    <p:sldId xmlns:r="http://schemas.openxmlformats.org/officeDocument/2006/relationships" id="262" r:id="Rcd6f0ba32c7f485f"/>
    <p:sldId xmlns:r="http://schemas.openxmlformats.org/officeDocument/2006/relationships" id="263" r:id="Rd80ee92a517f45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b0a8db73684059" /><Relationship Type="http://schemas.openxmlformats.org/officeDocument/2006/relationships/slideMaster" Target="/ppt/slideMasters/slideMaster1.xml" Id="R5330271b104c4233" /><Relationship Type="http://schemas.openxmlformats.org/officeDocument/2006/relationships/notesMaster" Target="/ppt/notesMasters/notesMaster1.xml" Id="Rb7646c527e1941e7" /><Relationship Type="http://schemas.openxmlformats.org/officeDocument/2006/relationships/presProps" Target="/ppt/presProps.xml" Id="R8fb2d6d143db4338" /><Relationship Type="http://schemas.openxmlformats.org/officeDocument/2006/relationships/tableStyles" Target="/ppt/tableStyles.xml" Id="R2656b521071e464b" /><Relationship Type="http://schemas.openxmlformats.org/officeDocument/2006/relationships/slide" Target="/ppt/slides/slide1.xml" Id="Rb210d319a0e34c82" /><Relationship Type="http://schemas.openxmlformats.org/officeDocument/2006/relationships/slide" Target="/ppt/slides/slide2.xml" Id="Rb024007422244416" /><Relationship Type="http://schemas.openxmlformats.org/officeDocument/2006/relationships/slide" Target="/ppt/slides/slide3.xml" Id="Rf32e0cd45a754708" /><Relationship Type="http://schemas.openxmlformats.org/officeDocument/2006/relationships/slide" Target="/ppt/slides/slide4.xml" Id="R70eac2d62e594c3a" /><Relationship Type="http://schemas.openxmlformats.org/officeDocument/2006/relationships/slide" Target="/ppt/slides/slide5.xml" Id="R0238439c87424ea4" /><Relationship Type="http://schemas.openxmlformats.org/officeDocument/2006/relationships/slide" Target="/ppt/slides/slide6.xml" Id="Rbc273fa6b9d74806" /><Relationship Type="http://schemas.openxmlformats.org/officeDocument/2006/relationships/slide" Target="/ppt/slides/slide7.xml" Id="Rcd6f0ba32c7f485f" /><Relationship Type="http://schemas.openxmlformats.org/officeDocument/2006/relationships/slide" Target="/ppt/slides/slide8.xml" Id="Rd80ee92a517f45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cdde86fb6d46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fee622ee184598" /><Relationship Type="http://schemas.openxmlformats.org/officeDocument/2006/relationships/notesMaster" Target="/ppt/notesMasters/notesMaster1.xml" Id="Rcc64e18ed5de4f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6313f286df4cf0" /><Relationship Type="http://schemas.openxmlformats.org/officeDocument/2006/relationships/notesMaster" Target="/ppt/notesMasters/notesMaster1.xml" Id="R537784351d6443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8ba190df824b85" /><Relationship Type="http://schemas.openxmlformats.org/officeDocument/2006/relationships/notesMaster" Target="/ppt/notesMasters/notesMaster1.xml" Id="R9d1853ea099b49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1e553f6bf242eb" /><Relationship Type="http://schemas.openxmlformats.org/officeDocument/2006/relationships/notesMaster" Target="/ppt/notesMasters/notesMaster1.xml" Id="Red0de2b5ec9444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f6194613f64836" /><Relationship Type="http://schemas.openxmlformats.org/officeDocument/2006/relationships/notesMaster" Target="/ppt/notesMasters/notesMaster1.xml" Id="R84ced4fbdbf646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87a85ec5c445ab" /><Relationship Type="http://schemas.openxmlformats.org/officeDocument/2006/relationships/notesMaster" Target="/ppt/notesMasters/notesMaster1.xml" Id="R3df4f2059b4d4f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3cf658a7234dff" /><Relationship Type="http://schemas.openxmlformats.org/officeDocument/2006/relationships/notesMaster" Target="/ppt/notesMasters/notesMaster1.xml" Id="R246d793da96d42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360fa202444421" /><Relationship Type="http://schemas.openxmlformats.org/officeDocument/2006/relationships/notesMaster" Target="/ppt/notesMasters/notesMaster1.xml" Id="R6ff4c6101dd44e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summarizes my analysis of the archived NYPD Shooting Incident Data. I focus on changes over time, differences across boroughs, victim age groups, and a logistic regression of the statistical murder flag. The dataset covers 2006 through 2024. Source: https://catalog.data.gov/dataset/archived-nypd-shooting-incident-data-historic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analysis asks three questions. First, how did recorded shootings change over time? Second, how do raw counts differ by borough and victim age group? Third, which recorded characteristics are associated with the statistical murder flag? The file contains 29,744 rows and covers 2006 through 2024. I also found 23,298 distinct incident keys, so the archived structure repeats some keys. I keep the row-based analysis used in the Week 3 report, but I treat repeated keys as a limitation. Source: https://data.cityofnewyork.us/Public-Safety/ARCHIVED-NYPD-Shooting-Incident-Data-Historic-/833y-fsy8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 series does not follow a straight line. Recorded rows generally declined from 2006 to 2018. The lowest annual count was 958 in 2018. Counts then increased sharply in 2020 and reached 2,011 in 2021 before declining to 1,182 in 2024. The timing raises questions about pandemic-era disruption, policing, reporting, and economic conditions, but this chart alone cannot identify causes. Source: archived NYPD file in the project repository; official source https://catalog.data.gov/dataset/archived-nypd-shooting-incident-data-historic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Brooklyn has 11,685 records and the Bronx has 8,834. Together they account for about 69 percent of all rows in the archived file. Queens and Manhattan have lower counts, and Staten Island has the fewest. These bars show raw counts. They do not adjust for population, daytime activity, land area, or exposure, so they should not be interpreted as individual risk. Source: archived NYPD file in the project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 distribution is concentrated among victims aged 18 to 44. The 25 to 44 group has 13,563 records, and the 18 to 24 group has 10,677. Together those groups represent 81.5 percent of all rows. This pattern is descriptive. The file does not include age-specific population size, exposure, activity patterns, or broader social conditions, so it cannot produce comparable age-specific risk estimates. Source: archived NYPD file in the project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logistic regression predicts whether the statistical murder flag is true. Brooklyn, victims aged 25 to 44, and male victims are the reference groups. Most borough confidence intervals include or approach one, so the model does not show strong borough separation after accounting for the included age and sex categories. Age-group associations are clearer. Records for victims under 18 and ages 18 to 24 have lower estimated odds, while ages 45 to 64 and 65 or older have higher estimated odds relative to ages 25 to 44. These estimates show association, not causation. Source: model fitted to the archived NYPD file in the project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analysis supports descriptive statements about time, boroughs, age groups, and conditional associations. Several constraints limit stronger interpretation. Raw counts do not include population or exposure denominators. Missing demographic information may create selection bias. The model also assumes independent observations, but the file contains 6,446 rows beyond one row per distinct incident key. The archived source has since been replaced by separate shootings, victim, and offender datasets, which reflects this structural limitation. Source: https://catalog.data.gov/dataset/archived-nypd-shooting-incident-data-historic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analysis shows three main patterns. Annual counts reached their lowest point in 2018, surged during 2020 and 2021, and later declined. Brooklyn and the Bronx have the largest raw counts, although those counts do not measure individual risk. In the regression, borough odds ratios remain close to one, while several age-group associations are larger. The appropriate conclusion is descriptive. These archived records identify patterns and questions for further study, but they do not establish causes. Thank you. Source: https://catalog.data.gov/dataset/archived-nypd-shooting-incident-data-historic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596a1bbf9746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29e8ea21624112" /><Relationship Type="http://schemas.openxmlformats.org/officeDocument/2006/relationships/slideLayout" Target="/ppt/slideLayouts/slideLayout1.xml" Id="Rb66aa0764b6141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6aa0764b6141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981b810a044a71" /><Relationship Type="http://schemas.openxmlformats.org/officeDocument/2006/relationships/notesSlide" Target="/ppt/notesSlides/notesSlide1.xml" Id="Rc77c119f3c9d4f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8a9882d4a845da" /><Relationship Type="http://schemas.openxmlformats.org/officeDocument/2006/relationships/notesSlide" Target="/ppt/notesSlides/notesSlide2.xml" Id="Rffc8cc4deed24a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2e32d949844096" /><Relationship Type="http://schemas.openxmlformats.org/officeDocument/2006/relationships/chart" Target="/ppt/slides/charts/chart1.xml" Id="Rebbccf3217c54a8a" /><Relationship Type="http://schemas.openxmlformats.org/officeDocument/2006/relationships/notesSlide" Target="/ppt/notesSlides/notesSlide3.xml" Id="R6154b92470514b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eb6a8a422448a7" /><Relationship Type="http://schemas.openxmlformats.org/officeDocument/2006/relationships/chart" Target="/ppt/slides/charts/chart2.xml" Id="R77a03329f1a84f36" /><Relationship Type="http://schemas.openxmlformats.org/officeDocument/2006/relationships/notesSlide" Target="/ppt/notesSlides/notesSlide4.xml" Id="Rde1d65833b9545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814297b9074fe3" /><Relationship Type="http://schemas.openxmlformats.org/officeDocument/2006/relationships/chart" Target="/ppt/slides/charts/chart3.xml" Id="R29ec0b8330e642de" /><Relationship Type="http://schemas.openxmlformats.org/officeDocument/2006/relationships/notesSlide" Target="/ppt/notesSlides/notesSlide5.xml" Id="Re05d9deab97847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a41161bb654b61" /><Relationship Type="http://schemas.openxmlformats.org/officeDocument/2006/relationships/notesSlide" Target="/ppt/notesSlides/notesSlide6.xml" Id="R3afe506e9d624d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3ab688997e45fa" /><Relationship Type="http://schemas.openxmlformats.org/officeDocument/2006/relationships/notesSlide" Target="/ppt/notesSlides/notesSlide7.xml" Id="R5ff3b2bd64e441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cf86f04a514a90" /><Relationship Type="http://schemas.openxmlformats.org/officeDocument/2006/relationships/notesSlide" Target="/ppt/notesSlides/notesSlide8.xml" Id="Re840791bbc2a4c2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Records</c:v>
          </c:tx>
          <c:spPr>
            <a:ln xmlns:a="http://schemas.openxmlformats.org/drawingml/2006/main" w="38100">
              <a:solidFill>
                <a:srgbClr val="2F6F73"/>
              </a:solidFill>
              <a:prstDash val="solid"/>
            </a:ln>
          </c:spPr>
          <c:marker>
            <c:symbol val="circle"/>
            <c:size val="7"/>
            <c:spPr>
              <a:solidFill xmlns:a="http://schemas.openxmlformats.org/drawingml/2006/main">
                <a:srgbClr val="2F6F73"/>
              </a:solidFill>
            </c:spPr>
          </c:marker>
          <c:cat>
            <c:numRef>
              <c:f>'Chart Data'!$A$2:$A$20</c:f>
              <c:numCache>
                <c:formatCode>General</c:formatCode>
                <c:ptCount val="19"/>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numCache>
            </c:numRef>
          </c:cat>
          <c:val>
            <c:numRef>
              <c:f>'Chart Data'!$B$2:$B$20</c:f>
              <c:numCache>
                <c:formatCode>#,##0</c:formatCode>
                <c:ptCount val="19"/>
                <c:pt idx="0">
                  <c:v>2055</c:v>
                </c:pt>
                <c:pt idx="1">
                  <c:v>1887</c:v>
                </c:pt>
                <c:pt idx="2">
                  <c:v>1959</c:v>
                </c:pt>
                <c:pt idx="3">
                  <c:v>1828</c:v>
                </c:pt>
                <c:pt idx="4">
                  <c:v>1912</c:v>
                </c:pt>
                <c:pt idx="5">
                  <c:v>1939</c:v>
                </c:pt>
                <c:pt idx="6">
                  <c:v>1717</c:v>
                </c:pt>
                <c:pt idx="7">
                  <c:v>1339</c:v>
                </c:pt>
                <c:pt idx="8">
                  <c:v>1464</c:v>
                </c:pt>
                <c:pt idx="9">
                  <c:v>1434</c:v>
                </c:pt>
                <c:pt idx="10">
                  <c:v>1208</c:v>
                </c:pt>
                <c:pt idx="11">
                  <c:v>970</c:v>
                </c:pt>
                <c:pt idx="12">
                  <c:v>958</c:v>
                </c:pt>
                <c:pt idx="13">
                  <c:v>967</c:v>
                </c:pt>
                <c:pt idx="14">
                  <c:v>1948</c:v>
                </c:pt>
                <c:pt idx="15">
                  <c:v>2011</c:v>
                </c:pt>
                <c:pt idx="16">
                  <c:v>1716</c:v>
                </c:pt>
                <c:pt idx="17">
                  <c:v>1250</c:v>
                </c:pt>
                <c:pt idx="18">
                  <c:v>1182</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4CB"/>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7276"/>
                </a:solidFill>
                <a:latin typeface="Arial"/>
                <a:ea typeface="Arial"/>
                <a:cs typeface="Arial"/>
              </a:defRPr>
            </a:pPr>
          </a:p>
        </c:txPr>
        <c:crossAx val="48672768"/>
      </c:catAx>
      <c:valAx>
        <c:axId val="48672768"/>
        <c:scaling>
          <c:orientation val="minMax"/>
          <c:max val="2200"/>
          <c:min val="0"/>
        </c:scaling>
        <c:delete val="0"/>
        <c:axPos val="l"/>
        <c:majorGridlines>
          <c:spPr>
            <a:ln xmlns:a="http://schemas.openxmlformats.org/drawingml/2006/main" w="9525">
              <a:solidFill>
                <a:srgbClr val="D9D4CB"/>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667276"/>
                </a:solidFill>
                <a:latin typeface="Arial"/>
                <a:ea typeface="Arial"/>
                <a:cs typeface="Arial"/>
              </a:defRPr>
            </a:pPr>
          </a:p>
        </c:txPr>
        <c:crossAx val="48650112"/>
        <c:crossBetween val="between"/>
        <c:majorUnit val="500"/>
      </c:valAx>
      <c:spPr>
        <a:solidFill xmlns:a="http://schemas.openxmlformats.org/drawingml/2006/main">
          <a:srgbClr val="FCFBF7"/>
        </a:solidFill>
        <a:ln xmlns:a="http://schemas.openxmlformats.org/drawingml/2006/main" w="0">
          <a:noFill/>
        </a:ln>
      </c:spPr>
    </c:plotArea>
    <c:plotVisOnly val="1"/>
  </c:chart>
  <c:spPr>
    <a:solidFill xmlns:a="http://schemas.openxmlformats.org/drawingml/2006/main">
      <a:srgbClr val="FCFB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Records</c:v>
          </c:tx>
          <c:spPr>
            <a:solidFill xmlns:a="http://schemas.openxmlformats.org/drawingml/2006/main">
              <a:srgbClr val="2F6F73"/>
            </a:solidFill>
          </c:spPr>
          <c:dPt>
            <c:idx val="0"/>
            <c:invertIfNegative val="0"/>
            <c:spPr>
              <a:solidFill xmlns:a="http://schemas.openxmlformats.org/drawingml/2006/main">
                <a:srgbClr val="899A74"/>
              </a:solidFill>
            </c:spPr>
          </c:dPt>
          <c:dPt>
            <c:idx val="1"/>
            <c:invertIfNegative val="0"/>
            <c:spPr>
              <a:solidFill xmlns:a="http://schemas.openxmlformats.org/drawingml/2006/main">
                <a:srgbClr val="B27568"/>
              </a:solidFill>
            </c:spPr>
          </c:dPt>
          <c:dPt>
            <c:idx val="2"/>
            <c:invertIfNegative val="0"/>
            <c:spPr>
              <a:solidFill xmlns:a="http://schemas.openxmlformats.org/drawingml/2006/main">
                <a:srgbClr val="6E84AF"/>
              </a:solidFill>
            </c:spPr>
          </c:dPt>
          <c:dPt>
            <c:idx val="3"/>
            <c:invertIfNegative val="0"/>
            <c:spPr>
              <a:solidFill xmlns:a="http://schemas.openxmlformats.org/drawingml/2006/main">
                <a:srgbClr val="976A55"/>
              </a:solidFill>
            </c:spPr>
          </c:dPt>
          <c:dPt>
            <c:idx val="4"/>
            <c:invertIfNegative val="0"/>
            <c:spPr>
              <a:solidFill xmlns:a="http://schemas.openxmlformats.org/drawingml/2006/main">
                <a:srgbClr val="2F6F73"/>
              </a:solidFill>
            </c:spPr>
          </c:dPt>
          <c:cat>
            <c:strRef>
              <c:f>'Chart Data'!$A$2:$A$6</c:f>
              <c:strCache>
                <c:ptCount val="5"/>
                <c:pt idx="0">
                  <c:v>Staten Island</c:v>
                </c:pt>
                <c:pt idx="1">
                  <c:v>Manhattan</c:v>
                </c:pt>
                <c:pt idx="2">
                  <c:v>Queens</c:v>
                </c:pt>
                <c:pt idx="3">
                  <c:v>Bronx</c:v>
                </c:pt>
                <c:pt idx="4">
                  <c:v>Brooklyn</c:v>
                </c:pt>
              </c:strCache>
            </c:strRef>
          </c:cat>
          <c:val>
            <c:numRef>
              <c:f>'Chart Data'!$B$2:$B$6</c:f>
              <c:numCache>
                <c:formatCode>#,##0</c:formatCode>
                <c:ptCount val="5"/>
                <c:pt idx="0">
                  <c:v>822</c:v>
                </c:pt>
                <c:pt idx="1">
                  <c:v>3977</c:v>
                </c:pt>
                <c:pt idx="2">
                  <c:v>4426</c:v>
                </c:pt>
                <c:pt idx="3">
                  <c:v>8834</c:v>
                </c:pt>
                <c:pt idx="4">
                  <c:v>11685</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F292C"/>
                  </a:solidFill>
                  <a:latin typeface="Arial"/>
                  <a:ea typeface="Arial"/>
                  <a:cs typeface="Aria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F292C"/>
                </a:solidFill>
                <a:latin typeface="Arial"/>
                <a:ea typeface="Arial"/>
                <a:cs typeface="Arial"/>
              </a:defRPr>
            </a:pPr>
          </a:p>
        </c:txPr>
        <c:crossAx val="48650112"/>
        <c:crossBetween val="between"/>
      </c:valAx>
      <c:spPr>
        <a:solidFill xmlns:a="http://schemas.openxmlformats.org/drawingml/2006/main">
          <a:srgbClr val="FCFBF7"/>
        </a:solidFill>
        <a:ln xmlns:a="http://schemas.openxmlformats.org/drawingml/2006/main" w="0">
          <a:noFill/>
        </a:ln>
      </c:spPr>
    </c:plotArea>
    <c:plotVisOnly val="1"/>
  </c:chart>
  <c:spPr>
    <a:solidFill xmlns:a="http://schemas.openxmlformats.org/drawingml/2006/main">
      <a:srgbClr val="FCFBF7"/>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Records</c:v>
          </c:tx>
          <c:spPr>
            <a:solidFill xmlns:a="http://schemas.openxmlformats.org/drawingml/2006/main">
              <a:srgbClr val="A95D4F"/>
            </a:solidFill>
          </c:spPr>
          <c:cat>
            <c:strRef>
              <c:f>'Chart Data'!$A$2:$A$7</c:f>
              <c:strCache>
                <c:ptCount val="6"/>
                <c:pt idx="0">
                  <c:v>Unknown</c:v>
                </c:pt>
                <c:pt idx="1">
                  <c:v>65+</c:v>
                </c:pt>
                <c:pt idx="2">
                  <c:v>45-64</c:v>
                </c:pt>
                <c:pt idx="3">
                  <c:v>Under 18</c:v>
                </c:pt>
                <c:pt idx="4">
                  <c:v>18-24</c:v>
                </c:pt>
                <c:pt idx="5">
                  <c:v>25-44</c:v>
                </c:pt>
              </c:strCache>
            </c:strRef>
          </c:cat>
          <c:val>
            <c:numRef>
              <c:f>'Chart Data'!$B$2:$B$7</c:f>
              <c:numCache>
                <c:formatCode>#,##0</c:formatCode>
                <c:ptCount val="6"/>
                <c:pt idx="0">
                  <c:v>69</c:v>
                </c:pt>
                <c:pt idx="1">
                  <c:v>236</c:v>
                </c:pt>
                <c:pt idx="2">
                  <c:v>2118</c:v>
                </c:pt>
                <c:pt idx="3">
                  <c:v>3081</c:v>
                </c:pt>
                <c:pt idx="4">
                  <c:v>10677</c:v>
                </c:pt>
                <c:pt idx="5">
                  <c:v>13563</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F292C"/>
                  </a:solidFill>
                  <a:latin typeface="Arial"/>
                  <a:ea typeface="Arial"/>
                  <a:cs typeface="Arial"/>
                </a:defRPr>
              </a:pPr>
            </a:p>
          </c:txPr>
          <c:dLblPos val="outEnd"/>
          <c:showLegendKey val="0"/>
          <c:showVal val="1"/>
          <c:showCatName val="0"/>
          <c:showSerName val="0"/>
          <c:showPercent val="0"/>
          <c:showBubbleSize val="0"/>
          <c:showLeaderLines val="0"/>
        </c:dLbls>
        <c:gapWidth val="36"/>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F292C"/>
                </a:solidFill>
                <a:latin typeface="Arial"/>
                <a:ea typeface="Arial"/>
                <a:cs typeface="Arial"/>
              </a:defRPr>
            </a:pPr>
          </a:p>
        </c:txPr>
        <c:crossAx val="48650112"/>
        <c:crossBetween val="between"/>
      </c:valAx>
      <c:spPr>
        <a:solidFill xmlns:a="http://schemas.openxmlformats.org/drawingml/2006/main">
          <a:srgbClr val="FCFBF7"/>
        </a:solidFill>
        <a:ln xmlns:a="http://schemas.openxmlformats.org/drawingml/2006/main" w="0">
          <a:noFill/>
        </a:ln>
      </c:spPr>
    </c:plotArea>
    <c:plotVisOnly val="1"/>
  </c:chart>
  <c:spPr>
    <a:solidFill xmlns:a="http://schemas.openxmlformats.org/drawingml/2006/main">
      <a:srgbClr val="FCFB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3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02141D-8767-43CA-A3B1-82E465FD6BD0}"/>
              </a:ext>
            </a:extLst>
          </p:cNvPr>
          <p:cNvSpPr>
            <a:spLocks xmlns:a="http://schemas.openxmlformats.org/drawingml/2006/main" noGrp="1"/>
          </p:cNvSpPr>
          <p:nvPr/>
        </p:nvSpPr>
        <p:spPr>
          <a:xfrm xmlns:a="http://schemas.openxmlformats.org/drawingml/2006/main">
            <a:off x="876300" y="1524000"/>
            <a:ext cx="9620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Trends and Borough Differences</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in NYPD Shooting Incidents</a:t>
            </a:r>
          </a:p>
        </p:txBody>
      </p:sp>
      <p:sp>
        <p:nvSpPr>
          <p:cNvPr id="2" name="">
            <a:extLst xmlns:a="http://schemas.openxmlformats.org/drawingml/2006/main">
              <a:ext uri="{FF2B5EF4-FFF2-40B4-BE49-F238E27FC236}">
                <a16:creationId xmlns:a16="http://schemas.microsoft.com/office/drawing/2014/main" id="{ADE87663-73FD-402E-8817-AEE81E5C62A6}"/>
              </a:ext>
            </a:extLst>
          </p:cNvPr>
          <p:cNvSpPr>
            <a:spLocks xmlns:a="http://schemas.openxmlformats.org/drawingml/2006/main" noGrp="1"/>
          </p:cNvSpPr>
          <p:nvPr/>
        </p:nvSpPr>
        <p:spPr>
          <a:xfrm xmlns:a="http://schemas.openxmlformats.org/drawingml/2006/main">
            <a:off x="914400" y="3619500"/>
            <a:ext cx="895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DCE8E6"/>
                </a:solidFill>
                <a:latin typeface="Arial"/>
                <a:ea typeface="Arial"/>
                <a:cs typeface="Arial"/>
              </a:defRPr>
            </a:pPr>
            <a:r>
              <a:rPr sz="2100">
                <a:solidFill>
                  <a:srgbClr val="DCE8E6"/>
                </a:solidFill>
                <a:latin typeface="Arial"/>
                <a:ea typeface="Arial"/>
                <a:cs typeface="Arial"/>
              </a:rPr>
              <a:t>Archived NYPD Shooting Incident Data, 2006-2024</a:t>
            </a:r>
          </a:p>
        </p:txBody>
      </p:sp>
      <p:sp>
        <p:nvSpPr>
          <p:cNvPr id="3" name="">
            <a:extLst xmlns:a="http://schemas.openxmlformats.org/drawingml/2006/main">
              <a:ext uri="{FF2B5EF4-FFF2-40B4-BE49-F238E27FC236}">
                <a16:creationId xmlns:a16="http://schemas.microsoft.com/office/drawing/2014/main" id="{2CAFA741-B029-43D1-B1C3-F277E2B7AB90}"/>
              </a:ext>
            </a:extLst>
          </p:cNvPr>
          <p:cNvSpPr>
            <a:spLocks xmlns:a="http://schemas.openxmlformats.org/drawingml/2006/main" noGrp="1"/>
          </p:cNvSpPr>
          <p:nvPr/>
        </p:nvSpPr>
        <p:spPr>
          <a:xfrm xmlns:a="http://schemas.openxmlformats.org/drawingml/2006/main">
            <a:off x="914400" y="51054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a:solidFill>
                  <a:srgbClr val="AFC2BF"/>
                </a:solidFill>
                <a:latin typeface="Arial"/>
                <a:ea typeface="Arial"/>
                <a:cs typeface="Arial"/>
              </a:defRPr>
            </a:pPr>
            <a:r>
              <a:rPr sz="1500">
                <a:solidFill>
                  <a:srgbClr val="AFC2BF"/>
                </a:solidFill>
                <a:latin typeface="Arial"/>
                <a:ea typeface="Arial"/>
                <a:cs typeface="Arial"/>
              </a:rPr>
              <a:t>DTSA 5301 final project presentation</a:t>
            </a:r>
          </a:p>
        </p:txBody>
      </p:sp>
      <p:sp>
        <p:nvSpPr>
          <p:cNvPr id="4" name="">
            <a:extLst xmlns:a="http://schemas.openxmlformats.org/drawingml/2006/main">
              <a:ext uri="{FF2B5EF4-FFF2-40B4-BE49-F238E27FC236}">
                <a16:creationId xmlns:a16="http://schemas.microsoft.com/office/drawing/2014/main" id="{4F2647AA-89CE-4783-9236-04C4C7CF556C}"/>
              </a:ext>
            </a:extLst>
          </p:cNvPr>
          <p:cNvSpPr>
            <a:spLocks xmlns:a="http://schemas.openxmlformats.org/drawingml/2006/main" noGrp="1"/>
          </p:cNvSpPr>
          <p:nvPr/>
        </p:nvSpPr>
        <p:spPr>
          <a:xfrm xmlns:a="http://schemas.openxmlformats.org/drawingml/2006/main">
            <a:off x="9163050" y="50101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950" b="1">
                <a:solidFill>
                  <a:srgbClr val="FFFFFF"/>
                </a:solidFill>
                <a:latin typeface="Arial"/>
                <a:ea typeface="Arial"/>
                <a:cs typeface="Arial"/>
              </a:defRPr>
            </a:pPr>
            <a:r>
              <a:rPr sz="1950" b="1">
                <a:solidFill>
                  <a:srgbClr val="FFFFFF"/>
                </a:solidFill>
                <a:latin typeface="Arial"/>
                <a:ea typeface="Arial"/>
                <a:cs typeface="Arial"/>
              </a:rPr>
              <a:t>29,744 records</a:t>
            </a:r>
          </a:p>
        </p:txBody>
      </p:sp>
      <p:sp>
        <p:nvSpPr>
          <p:cNvPr id="5" name="">
            <a:extLst xmlns:a="http://schemas.openxmlformats.org/drawingml/2006/main">
              <a:ext uri="{FF2B5EF4-FFF2-40B4-BE49-F238E27FC236}">
                <a16:creationId xmlns:a16="http://schemas.microsoft.com/office/drawing/2014/main" id="{798DE4ED-4C9C-4F41-B392-CCBD2B202B7E}"/>
              </a:ext>
            </a:extLst>
          </p:cNvPr>
          <p:cNvSpPr>
            <a:spLocks xmlns:a="http://schemas.openxmlformats.org/drawingml/2006/main" noGrp="1"/>
          </p:cNvSpPr>
          <p:nvPr/>
        </p:nvSpPr>
        <p:spPr>
          <a:xfrm xmlns:a="http://schemas.openxmlformats.org/drawingml/2006/main">
            <a:off x="11315700" y="6429375"/>
            <a:ext cx="19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a:solidFill>
                  <a:srgbClr val="C7D3D1"/>
                </a:solidFill>
                <a:latin typeface="Arial"/>
                <a:ea typeface="Arial"/>
                <a:cs typeface="Arial"/>
              </a:defRPr>
            </a:pPr>
            <a:r>
              <a:rPr sz="1050">
                <a:solidFill>
                  <a:srgbClr val="C7D3D1"/>
                </a:solidFill>
                <a:latin typeface="Arial"/>
                <a:ea typeface="Arial"/>
                <a:cs typeface="Arial"/>
              </a:rPr>
              <a:t>1</a:t>
            </a:r>
          </a:p>
        </p:txBody>
      </p:sp>
    </p:spTree>
    <p:extLst>
      <p:ext uri="{BB962C8B-B14F-4D97-AF65-F5344CB8AC3E}">
        <p14:creationId xmlns:p14="http://schemas.microsoft.com/office/powerpoint/2010/main" val="1579259664"/>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A8A23E7-31D2-469D-8AB1-B256A5B5738C}"/>
              </a:ext>
            </a:extLst>
          </p:cNvPr>
          <p:cNvSpPr>
            <a:spLocks xmlns:a="http://schemas.openxmlformats.org/drawingml/2006/main" noGrp="1"/>
          </p:cNvSpPr>
          <p:nvPr/>
        </p:nvSpPr>
        <p:spPr>
          <a:xfrm xmlns:a="http://schemas.openxmlformats.org/drawingml/2006/main">
            <a:off x="685800" y="400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33A"/>
                </a:solidFill>
                <a:latin typeface="Arial"/>
                <a:ea typeface="Arial"/>
                <a:cs typeface="Arial"/>
              </a:defRPr>
            </a:pPr>
            <a:r>
              <a:rPr sz="3150" b="1">
                <a:solidFill>
                  <a:srgbClr val="17333A"/>
                </a:solidFill>
                <a:latin typeface="Arial"/>
                <a:ea typeface="Arial"/>
                <a:cs typeface="Arial"/>
              </a:rPr>
              <a:t>Research questions and data</a:t>
            </a:r>
          </a:p>
        </p:txBody>
      </p:sp>
      <p:sp>
        <p:nvSpPr>
          <p:cNvPr id="2" name="">
            <a:extLst xmlns:a="http://schemas.openxmlformats.org/drawingml/2006/main">
              <a:ext uri="{FF2B5EF4-FFF2-40B4-BE49-F238E27FC236}">
                <a16:creationId xmlns:a16="http://schemas.microsoft.com/office/drawing/2014/main" id="{F756DEE8-4ABC-4A8C-8E59-FF84F06E1437}"/>
              </a:ext>
            </a:extLst>
          </p:cNvPr>
          <p:cNvSpPr>
            <a:spLocks xmlns:a="http://schemas.openxmlformats.org/drawingml/2006/main" noGrp="1"/>
          </p:cNvSpPr>
          <p:nvPr/>
        </p:nvSpPr>
        <p:spPr>
          <a:xfrm xmlns:a="http://schemas.openxmlformats.org/drawingml/2006/main">
            <a:off x="742950" y="1466850"/>
            <a:ext cx="590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F292C"/>
                </a:solidFill>
                <a:latin typeface="Arial"/>
                <a:ea typeface="Arial"/>
                <a:cs typeface="Arial"/>
              </a:defRPr>
            </a:pPr>
            <a:r>
              <a:rPr sz="2100" b="1">
                <a:solidFill>
                  <a:srgbClr val="1F292C"/>
                </a:solidFill>
                <a:latin typeface="Arial"/>
                <a:ea typeface="Arial"/>
                <a:cs typeface="Arial"/>
              </a:rPr>
              <a:t>How did the annual pattern change?</a:t>
            </a:r>
          </a:p>
        </p:txBody>
      </p:sp>
      <p:sp>
        <p:nvSpPr>
          <p:cNvPr id="3" name="">
            <a:extLst xmlns:a="http://schemas.openxmlformats.org/drawingml/2006/main">
              <a:ext uri="{FF2B5EF4-FFF2-40B4-BE49-F238E27FC236}">
                <a16:creationId xmlns:a16="http://schemas.microsoft.com/office/drawing/2014/main" id="{AA49C995-0B20-44E5-B7AD-B29963AC22E1}"/>
              </a:ext>
            </a:extLst>
          </p:cNvPr>
          <p:cNvSpPr>
            <a:spLocks xmlns:a="http://schemas.openxmlformats.org/drawingml/2006/main" noGrp="1"/>
          </p:cNvSpPr>
          <p:nvPr/>
        </p:nvSpPr>
        <p:spPr>
          <a:xfrm xmlns:a="http://schemas.openxmlformats.org/drawingml/2006/main">
            <a:off x="742950" y="2286000"/>
            <a:ext cx="590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F292C"/>
                </a:solidFill>
                <a:latin typeface="Arial"/>
                <a:ea typeface="Arial"/>
                <a:cs typeface="Arial"/>
              </a:defRPr>
            </a:pPr>
            <a:r>
              <a:rPr sz="2100" b="1">
                <a:solidFill>
                  <a:srgbClr val="1F292C"/>
                </a:solidFill>
                <a:latin typeface="Arial"/>
                <a:ea typeface="Arial"/>
                <a:cs typeface="Arial"/>
              </a:rPr>
              <a:t>How do raw counts differ across boroughs and victim age groups?</a:t>
            </a:r>
          </a:p>
        </p:txBody>
      </p:sp>
      <p:sp>
        <p:nvSpPr>
          <p:cNvPr id="4" name="">
            <a:extLst xmlns:a="http://schemas.openxmlformats.org/drawingml/2006/main">
              <a:ext uri="{FF2B5EF4-FFF2-40B4-BE49-F238E27FC236}">
                <a16:creationId xmlns:a16="http://schemas.microsoft.com/office/drawing/2014/main" id="{5B41FBB1-A2BA-4045-9131-CCA8B5E93159}"/>
              </a:ext>
            </a:extLst>
          </p:cNvPr>
          <p:cNvSpPr>
            <a:spLocks xmlns:a="http://schemas.openxmlformats.org/drawingml/2006/main" noGrp="1"/>
          </p:cNvSpPr>
          <p:nvPr/>
        </p:nvSpPr>
        <p:spPr>
          <a:xfrm xmlns:a="http://schemas.openxmlformats.org/drawingml/2006/main">
            <a:off x="742950" y="3409950"/>
            <a:ext cx="5905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F292C"/>
                </a:solidFill>
                <a:latin typeface="Arial"/>
                <a:ea typeface="Arial"/>
                <a:cs typeface="Arial"/>
              </a:defRPr>
            </a:pPr>
            <a:r>
              <a:rPr sz="2100" b="1">
                <a:solidFill>
                  <a:srgbClr val="1F292C"/>
                </a:solidFill>
                <a:latin typeface="Arial"/>
                <a:ea typeface="Arial"/>
                <a:cs typeface="Arial"/>
              </a:rPr>
              <a:t>Which recorded characteristics are associated with the statistical murder flag?</a:t>
            </a:r>
          </a:p>
        </p:txBody>
      </p:sp>
      <p:sp>
        <p:nvSpPr>
          <p:cNvPr id="5" name="">
            <a:extLst xmlns:a="http://schemas.openxmlformats.org/drawingml/2006/main">
              <a:ext uri="{FF2B5EF4-FFF2-40B4-BE49-F238E27FC236}">
                <a16:creationId xmlns:a16="http://schemas.microsoft.com/office/drawing/2014/main" id="{B1A129EE-3C70-4624-9F07-3A777047066A}"/>
              </a:ext>
            </a:extLst>
          </p:cNvPr>
          <p:cNvSpPr>
            <a:spLocks xmlns:a="http://schemas.openxmlformats.org/drawingml/2006/main" noGrp="1"/>
          </p:cNvSpPr>
          <p:nvPr/>
        </p:nvSpPr>
        <p:spPr>
          <a:xfrm xmlns:a="http://schemas.openxmlformats.org/drawingml/2006/main">
            <a:off x="7677150" y="1428750"/>
            <a:ext cx="323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5250" b="1">
                <a:solidFill>
                  <a:srgbClr val="2F6F73"/>
                </a:solidFill>
                <a:latin typeface="Arial"/>
                <a:ea typeface="Arial"/>
                <a:cs typeface="Arial"/>
              </a:defRPr>
            </a:pPr>
            <a:r>
              <a:rPr sz="5250" b="1">
                <a:solidFill>
                  <a:srgbClr val="2F6F73"/>
                </a:solidFill>
                <a:latin typeface="Arial"/>
                <a:ea typeface="Arial"/>
                <a:cs typeface="Arial"/>
              </a:rPr>
              <a:t>29,744</a:t>
            </a:r>
          </a:p>
        </p:txBody>
      </p:sp>
      <p:sp>
        <p:nvSpPr>
          <p:cNvPr id="6" name="">
            <a:extLst xmlns:a="http://schemas.openxmlformats.org/drawingml/2006/main">
              <a:ext uri="{FF2B5EF4-FFF2-40B4-BE49-F238E27FC236}">
                <a16:creationId xmlns:a16="http://schemas.microsoft.com/office/drawing/2014/main" id="{881E4609-5B65-4549-B5CF-2289ACB27C2D}"/>
              </a:ext>
            </a:extLst>
          </p:cNvPr>
          <p:cNvSpPr>
            <a:spLocks xmlns:a="http://schemas.openxmlformats.org/drawingml/2006/main" noGrp="1"/>
          </p:cNvSpPr>
          <p:nvPr/>
        </p:nvSpPr>
        <p:spPr>
          <a:xfrm xmlns:a="http://schemas.openxmlformats.org/drawingml/2006/main">
            <a:off x="7677150" y="22479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00">
                <a:solidFill>
                  <a:srgbClr val="667276"/>
                </a:solidFill>
                <a:latin typeface="Arial"/>
                <a:ea typeface="Arial"/>
                <a:cs typeface="Arial"/>
              </a:defRPr>
            </a:pPr>
            <a:r>
              <a:rPr sz="1800">
                <a:solidFill>
                  <a:srgbClr val="667276"/>
                </a:solidFill>
                <a:latin typeface="Arial"/>
                <a:ea typeface="Arial"/>
                <a:cs typeface="Arial"/>
              </a:rPr>
              <a:t>dataset rows</a:t>
            </a:r>
          </a:p>
        </p:txBody>
      </p:sp>
      <p:sp>
        <p:nvSpPr>
          <p:cNvPr id="7" name="">
            <a:extLst xmlns:a="http://schemas.openxmlformats.org/drawingml/2006/main">
              <a:ext uri="{FF2B5EF4-FFF2-40B4-BE49-F238E27FC236}">
                <a16:creationId xmlns:a16="http://schemas.microsoft.com/office/drawing/2014/main" id="{5F2DAF08-4DEE-42E7-8682-AD655643AF4F}"/>
              </a:ext>
            </a:extLst>
          </p:cNvPr>
          <p:cNvSpPr>
            <a:spLocks xmlns:a="http://schemas.openxmlformats.org/drawingml/2006/main" noGrp="1"/>
          </p:cNvSpPr>
          <p:nvPr/>
        </p:nvSpPr>
        <p:spPr>
          <a:xfrm xmlns:a="http://schemas.openxmlformats.org/drawingml/2006/main">
            <a:off x="7677150" y="3105150"/>
            <a:ext cx="323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4050" b="1">
                <a:solidFill>
                  <a:srgbClr val="A95D4F"/>
                </a:solidFill>
                <a:latin typeface="Arial"/>
                <a:ea typeface="Arial"/>
                <a:cs typeface="Arial"/>
              </a:defRPr>
            </a:pPr>
            <a:r>
              <a:rPr sz="4050" b="1">
                <a:solidFill>
                  <a:srgbClr val="A95D4F"/>
                </a:solidFill>
                <a:latin typeface="Arial"/>
                <a:ea typeface="Arial"/>
                <a:cs typeface="Arial"/>
              </a:rPr>
              <a:t>2006-2024</a:t>
            </a:r>
          </a:p>
        </p:txBody>
      </p:sp>
      <p:sp>
        <p:nvSpPr>
          <p:cNvPr id="8" name="">
            <a:extLst xmlns:a="http://schemas.openxmlformats.org/drawingml/2006/main">
              <a:ext uri="{FF2B5EF4-FFF2-40B4-BE49-F238E27FC236}">
                <a16:creationId xmlns:a16="http://schemas.microsoft.com/office/drawing/2014/main" id="{BF54BB3D-CC78-47DD-A0E4-DEB51B45BC89}"/>
              </a:ext>
            </a:extLst>
          </p:cNvPr>
          <p:cNvSpPr>
            <a:spLocks xmlns:a="http://schemas.openxmlformats.org/drawingml/2006/main" noGrp="1"/>
          </p:cNvSpPr>
          <p:nvPr/>
        </p:nvSpPr>
        <p:spPr>
          <a:xfrm xmlns:a="http://schemas.openxmlformats.org/drawingml/2006/main">
            <a:off x="7677150" y="38290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00">
                <a:solidFill>
                  <a:srgbClr val="667276"/>
                </a:solidFill>
                <a:latin typeface="Arial"/>
                <a:ea typeface="Arial"/>
                <a:cs typeface="Arial"/>
              </a:defRPr>
            </a:pPr>
            <a:r>
              <a:rPr sz="1800">
                <a:solidFill>
                  <a:srgbClr val="667276"/>
                </a:solidFill>
                <a:latin typeface="Arial"/>
                <a:ea typeface="Arial"/>
                <a:cs typeface="Arial"/>
              </a:rPr>
              <a:t>archived coverage</a:t>
            </a:r>
          </a:p>
        </p:txBody>
      </p:sp>
      <p:sp>
        <p:nvSpPr>
          <p:cNvPr id="9" name="">
            <a:extLst xmlns:a="http://schemas.openxmlformats.org/drawingml/2006/main">
              <a:ext uri="{FF2B5EF4-FFF2-40B4-BE49-F238E27FC236}">
                <a16:creationId xmlns:a16="http://schemas.microsoft.com/office/drawing/2014/main" id="{5B1C9CFF-A284-4DCE-A283-B94575D38E1F}"/>
              </a:ext>
            </a:extLst>
          </p:cNvPr>
          <p:cNvSpPr>
            <a:spLocks xmlns:a="http://schemas.openxmlformats.org/drawingml/2006/main" noGrp="1"/>
          </p:cNvSpPr>
          <p:nvPr/>
        </p:nvSpPr>
        <p:spPr>
          <a:xfrm xmlns:a="http://schemas.openxmlformats.org/drawingml/2006/main">
            <a:off x="723900" y="5067300"/>
            <a:ext cx="10172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a:solidFill>
                  <a:srgbClr val="17333A"/>
                </a:solidFill>
                <a:latin typeface="Arial"/>
                <a:ea typeface="Arial"/>
                <a:cs typeface="Arial"/>
              </a:defRPr>
            </a:pPr>
            <a:r>
              <a:rPr sz="1725">
                <a:solidFill>
                  <a:srgbClr val="17333A"/>
                </a:solidFill>
                <a:latin typeface="Arial"/>
                <a:ea typeface="Arial"/>
                <a:cs typeface="Arial"/>
              </a:rPr>
              <a:t>The file contains 23,298 distinct incident keys. Repeated keys require care when interpreting row counts and model independence.</a:t>
            </a:r>
          </a:p>
        </p:txBody>
      </p:sp>
      <p:sp>
        <p:nvSpPr>
          <p:cNvPr id="10" name="">
            <a:extLst xmlns:a="http://schemas.openxmlformats.org/drawingml/2006/main">
              <a:ext uri="{FF2B5EF4-FFF2-40B4-BE49-F238E27FC236}">
                <a16:creationId xmlns:a16="http://schemas.microsoft.com/office/drawing/2014/main" id="{E1126D48-3067-429A-ABE0-8CA73A390955}"/>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67276"/>
                </a:solidFill>
                <a:latin typeface="Arial"/>
                <a:ea typeface="Arial"/>
                <a:cs typeface="Arial"/>
              </a:defRPr>
            </a:pPr>
            <a:r>
              <a:rPr sz="1050">
                <a:solidFill>
                  <a:srgbClr val="667276"/>
                </a:solidFill>
                <a:latin typeface="Arial"/>
                <a:ea typeface="Arial"/>
                <a:cs typeface="Arial"/>
              </a:rPr>
              <a:t>Source: NYC Open Data / Data.gov; analysis of archived 2006-2024 file</a:t>
            </a:r>
          </a:p>
        </p:txBody>
      </p:sp>
      <p:sp>
        <p:nvSpPr>
          <p:cNvPr id="11" name="">
            <a:extLst xmlns:a="http://schemas.openxmlformats.org/drawingml/2006/main">
              <a:ext uri="{FF2B5EF4-FFF2-40B4-BE49-F238E27FC236}">
                <a16:creationId xmlns:a16="http://schemas.microsoft.com/office/drawing/2014/main" id="{45F85E07-5080-4850-A9DE-8BBAA5622CF3}"/>
              </a:ext>
            </a:extLst>
          </p:cNvPr>
          <p:cNvSpPr>
            <a:spLocks xmlns:a="http://schemas.openxmlformats.org/drawingml/2006/main" noGrp="1"/>
          </p:cNvSpPr>
          <p:nvPr/>
        </p:nvSpPr>
        <p:spPr>
          <a:xfrm xmlns:a="http://schemas.openxmlformats.org/drawingml/2006/main">
            <a:off x="11315700" y="6429375"/>
            <a:ext cx="19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a:solidFill>
                  <a:srgbClr val="667276"/>
                </a:solidFill>
                <a:latin typeface="Arial"/>
                <a:ea typeface="Arial"/>
                <a:cs typeface="Arial"/>
              </a:defRPr>
            </a:pPr>
            <a:r>
              <a:rPr sz="1050">
                <a:solidFill>
                  <a:srgbClr val="667276"/>
                </a:solidFill>
                <a:latin typeface="Arial"/>
                <a:ea typeface="Arial"/>
                <a:cs typeface="Arial"/>
              </a:rPr>
              <a:t>2</a:t>
            </a:r>
          </a:p>
        </p:txBody>
      </p:sp>
    </p:spTree>
    <p:extLst>
      <p:ext uri="{BB962C8B-B14F-4D97-AF65-F5344CB8AC3E}">
        <p14:creationId xmlns:p14="http://schemas.microsoft.com/office/powerpoint/2010/main" val="387733603"/>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569366-2559-4594-B264-BC89EF4F2FB1}"/>
              </a:ext>
            </a:extLst>
          </p:cNvPr>
          <p:cNvSpPr>
            <a:spLocks xmlns:a="http://schemas.openxmlformats.org/drawingml/2006/main" noGrp="1"/>
          </p:cNvSpPr>
          <p:nvPr/>
        </p:nvSpPr>
        <p:spPr>
          <a:xfrm xmlns:a="http://schemas.openxmlformats.org/drawingml/2006/main">
            <a:off x="685800" y="400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33A"/>
                </a:solidFill>
                <a:latin typeface="Arial"/>
                <a:ea typeface="Arial"/>
                <a:cs typeface="Arial"/>
              </a:defRPr>
            </a:pPr>
            <a:r>
              <a:rPr sz="3150" b="1">
                <a:solidFill>
                  <a:srgbClr val="17333A"/>
                </a:solidFill>
                <a:latin typeface="Arial"/>
                <a:ea typeface="Arial"/>
                <a:cs typeface="Arial"/>
              </a:rPr>
              <a:t>Annual records declined through 2018, then surged</a:t>
            </a:r>
          </a:p>
        </p:txBody>
      </p:sp>
      <p:graphicFrame>
        <p:nvGraphicFramePr>
          <p:cNvPr id="7" name="Chart"/>
          <p:cNvGraphicFramePr/>
          <p:nvPr/>
        </p:nvGraphicFramePr>
        <p:xfrm>
          <a:off xmlns:a="http://schemas.openxmlformats.org/drawingml/2006/main" x="723900" y="1285875"/>
          <a:ext xmlns:a="http://schemas.openxmlformats.org/drawingml/2006/main" cx="10668000" cy="4238625"/>
        </p:xfrm>
        <a:graphic xmlns:a="http://schemas.openxmlformats.org/drawingml/2006/main">
          <a:graphicData uri="http://schemas.openxmlformats.org/drawingml/2006/chart">
            <c:chart xmlns:r="http://schemas.openxmlformats.org/officeDocument/2006/relationships" xmlns:c="http://schemas.openxmlformats.org/drawingml/2006/chart" r:id="Rebbccf3217c54a8a"/>
          </a:graphicData>
        </a:graphic>
      </p:graphicFrame>
      <p:sp>
        <p:nvSpPr>
          <p:cNvPr id="3" name="">
            <a:extLst xmlns:a="http://schemas.openxmlformats.org/drawingml/2006/main">
              <a:ext uri="{FF2B5EF4-FFF2-40B4-BE49-F238E27FC236}">
                <a16:creationId xmlns:a16="http://schemas.microsoft.com/office/drawing/2014/main" id="{30A027D4-6E6C-4091-A4C5-9662B9D38702}"/>
              </a:ext>
            </a:extLst>
          </p:cNvPr>
          <p:cNvSpPr>
            <a:spLocks xmlns:a="http://schemas.openxmlformats.org/drawingml/2006/main" noGrp="1"/>
          </p:cNvSpPr>
          <p:nvPr/>
        </p:nvSpPr>
        <p:spPr>
          <a:xfrm xmlns:a="http://schemas.openxmlformats.org/drawingml/2006/main">
            <a:off x="1809750" y="571500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17333A"/>
                </a:solidFill>
                <a:latin typeface="Arial"/>
                <a:ea typeface="Arial"/>
                <a:cs typeface="Arial"/>
              </a:defRPr>
            </a:pPr>
            <a:r>
              <a:rPr sz="1725" b="1">
                <a:solidFill>
                  <a:srgbClr val="17333A"/>
                </a:solidFill>
                <a:latin typeface="Arial"/>
                <a:ea typeface="Arial"/>
                <a:cs typeface="Arial"/>
              </a:rPr>
              <a:t>Lowest: 958 in 2018     2021 peak: 2,011     2024: 1,182</a:t>
            </a:r>
          </a:p>
        </p:txBody>
      </p:sp>
      <p:sp>
        <p:nvSpPr>
          <p:cNvPr id="4" name="">
            <a:extLst xmlns:a="http://schemas.openxmlformats.org/drawingml/2006/main">
              <a:ext uri="{FF2B5EF4-FFF2-40B4-BE49-F238E27FC236}">
                <a16:creationId xmlns:a16="http://schemas.microsoft.com/office/drawing/2014/main" id="{DB9CFA24-5497-4ABD-AE42-67BBF22750AF}"/>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67276"/>
                </a:solidFill>
                <a:latin typeface="Arial"/>
                <a:ea typeface="Arial"/>
                <a:cs typeface="Arial"/>
              </a:defRPr>
            </a:pPr>
            <a:r>
              <a:rPr sz="1050">
                <a:solidFill>
                  <a:srgbClr val="667276"/>
                </a:solidFill>
                <a:latin typeface="Arial"/>
                <a:ea typeface="Arial"/>
                <a:cs typeface="Arial"/>
              </a:rPr>
              <a:t>Source: NYC Open Data / Data.gov; analysis of archived 2006-2024 file</a:t>
            </a:r>
          </a:p>
        </p:txBody>
      </p:sp>
      <p:sp>
        <p:nvSpPr>
          <p:cNvPr id="5" name="">
            <a:extLst xmlns:a="http://schemas.openxmlformats.org/drawingml/2006/main">
              <a:ext uri="{FF2B5EF4-FFF2-40B4-BE49-F238E27FC236}">
                <a16:creationId xmlns:a16="http://schemas.microsoft.com/office/drawing/2014/main" id="{75BC26F9-2039-48F7-ABE5-2A2B8AFA34E6}"/>
              </a:ext>
            </a:extLst>
          </p:cNvPr>
          <p:cNvSpPr>
            <a:spLocks xmlns:a="http://schemas.openxmlformats.org/drawingml/2006/main" noGrp="1"/>
          </p:cNvSpPr>
          <p:nvPr/>
        </p:nvSpPr>
        <p:spPr>
          <a:xfrm xmlns:a="http://schemas.openxmlformats.org/drawingml/2006/main">
            <a:off x="11315700" y="6429375"/>
            <a:ext cx="19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a:solidFill>
                  <a:srgbClr val="667276"/>
                </a:solidFill>
                <a:latin typeface="Arial"/>
                <a:ea typeface="Arial"/>
                <a:cs typeface="Arial"/>
              </a:defRPr>
            </a:pPr>
            <a:r>
              <a:rPr sz="1050">
                <a:solidFill>
                  <a:srgbClr val="667276"/>
                </a:solidFill>
                <a:latin typeface="Arial"/>
                <a:ea typeface="Arial"/>
                <a:cs typeface="Arial"/>
              </a:rPr>
              <a:t>3</a:t>
            </a:r>
          </a:p>
        </p:txBody>
      </p:sp>
    </p:spTree>
    <p:extLst>
      <p:ext uri="{BB962C8B-B14F-4D97-AF65-F5344CB8AC3E}">
        <p14:creationId xmlns:p14="http://schemas.microsoft.com/office/powerpoint/2010/main" val="1142342937"/>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54F10D-12B5-4B70-8D04-80CFD50CC0E6}"/>
              </a:ext>
            </a:extLst>
          </p:cNvPr>
          <p:cNvSpPr>
            <a:spLocks xmlns:a="http://schemas.openxmlformats.org/drawingml/2006/main" noGrp="1"/>
          </p:cNvSpPr>
          <p:nvPr/>
        </p:nvSpPr>
        <p:spPr>
          <a:xfrm xmlns:a="http://schemas.openxmlformats.org/drawingml/2006/main">
            <a:off x="685800" y="400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33A"/>
                </a:solidFill>
                <a:latin typeface="Arial"/>
                <a:ea typeface="Arial"/>
                <a:cs typeface="Arial"/>
              </a:defRPr>
            </a:pPr>
            <a:r>
              <a:rPr sz="3150" b="1">
                <a:solidFill>
                  <a:srgbClr val="17333A"/>
                </a:solidFill>
                <a:latin typeface="Arial"/>
                <a:ea typeface="Arial"/>
                <a:cs typeface="Arial"/>
              </a:rPr>
              <a:t>Brooklyn and the Bronx account for 69% of records</a:t>
            </a:r>
          </a:p>
        </p:txBody>
      </p:sp>
      <p:graphicFrame>
        <p:nvGraphicFramePr>
          <p:cNvPr id="7" name="Chart"/>
          <p:cNvGraphicFramePr/>
          <p:nvPr/>
        </p:nvGraphicFramePr>
        <p:xfrm>
          <a:off xmlns:a="http://schemas.openxmlformats.org/drawingml/2006/main" x="1095375" y="1314450"/>
          <a:ext xmlns:a="http://schemas.openxmlformats.org/drawingml/2006/main" cx="9810750" cy="3810000"/>
        </p:xfrm>
        <a:graphic xmlns:a="http://schemas.openxmlformats.org/drawingml/2006/main">
          <a:graphicData uri="http://schemas.openxmlformats.org/drawingml/2006/chart">
            <c:chart xmlns:r="http://schemas.openxmlformats.org/officeDocument/2006/relationships" xmlns:c="http://schemas.openxmlformats.org/drawingml/2006/chart" r:id="R77a03329f1a84f36"/>
          </a:graphicData>
        </a:graphic>
      </p:graphicFrame>
      <p:sp>
        <p:nvSpPr>
          <p:cNvPr id="3" name="">
            <a:extLst xmlns:a="http://schemas.openxmlformats.org/drawingml/2006/main">
              <a:ext uri="{FF2B5EF4-FFF2-40B4-BE49-F238E27FC236}">
                <a16:creationId xmlns:a16="http://schemas.microsoft.com/office/drawing/2014/main" id="{AF67D2C1-8398-49F8-9CEA-58AEF0845A15}"/>
              </a:ext>
            </a:extLst>
          </p:cNvPr>
          <p:cNvSpPr>
            <a:spLocks xmlns:a="http://schemas.openxmlformats.org/drawingml/2006/main" noGrp="1"/>
          </p:cNvSpPr>
          <p:nvPr/>
        </p:nvSpPr>
        <p:spPr>
          <a:xfrm xmlns:a="http://schemas.openxmlformats.org/drawingml/2006/main">
            <a:off x="1476375" y="5334000"/>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a:solidFill>
                  <a:srgbClr val="17333A"/>
                </a:solidFill>
                <a:latin typeface="Arial"/>
                <a:ea typeface="Arial"/>
                <a:cs typeface="Arial"/>
              </a:defRPr>
            </a:pPr>
            <a:r>
              <a:rPr sz="1650">
                <a:solidFill>
                  <a:srgbClr val="17333A"/>
                </a:solidFill>
                <a:latin typeface="Arial"/>
                <a:ea typeface="Arial"/>
                <a:cs typeface="Arial"/>
              </a:rPr>
              <a:t>Raw counts do not adjust for population, daytime activity, land area, or exposure.</a:t>
            </a:r>
          </a:p>
        </p:txBody>
      </p:sp>
      <p:sp>
        <p:nvSpPr>
          <p:cNvPr id="4" name="">
            <a:extLst xmlns:a="http://schemas.openxmlformats.org/drawingml/2006/main">
              <a:ext uri="{FF2B5EF4-FFF2-40B4-BE49-F238E27FC236}">
                <a16:creationId xmlns:a16="http://schemas.microsoft.com/office/drawing/2014/main" id="{71A1917B-5C0A-49DE-B9C5-BE8AFF4BB91D}"/>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67276"/>
                </a:solidFill>
                <a:latin typeface="Arial"/>
                <a:ea typeface="Arial"/>
                <a:cs typeface="Arial"/>
              </a:defRPr>
            </a:pPr>
            <a:r>
              <a:rPr sz="1050">
                <a:solidFill>
                  <a:srgbClr val="667276"/>
                </a:solidFill>
                <a:latin typeface="Arial"/>
                <a:ea typeface="Arial"/>
                <a:cs typeface="Arial"/>
              </a:rPr>
              <a:t>Source: NYC Open Data / Data.gov; analysis of archived 2006-2024 file</a:t>
            </a:r>
          </a:p>
        </p:txBody>
      </p:sp>
      <p:sp>
        <p:nvSpPr>
          <p:cNvPr id="5" name="">
            <a:extLst xmlns:a="http://schemas.openxmlformats.org/drawingml/2006/main">
              <a:ext uri="{FF2B5EF4-FFF2-40B4-BE49-F238E27FC236}">
                <a16:creationId xmlns:a16="http://schemas.microsoft.com/office/drawing/2014/main" id="{99E2A20E-827E-48DF-A091-0F3AADAA74C9}"/>
              </a:ext>
            </a:extLst>
          </p:cNvPr>
          <p:cNvSpPr>
            <a:spLocks xmlns:a="http://schemas.openxmlformats.org/drawingml/2006/main" noGrp="1"/>
          </p:cNvSpPr>
          <p:nvPr/>
        </p:nvSpPr>
        <p:spPr>
          <a:xfrm xmlns:a="http://schemas.openxmlformats.org/drawingml/2006/main">
            <a:off x="11315700" y="6429375"/>
            <a:ext cx="19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a:solidFill>
                  <a:srgbClr val="667276"/>
                </a:solidFill>
                <a:latin typeface="Arial"/>
                <a:ea typeface="Arial"/>
                <a:cs typeface="Arial"/>
              </a:defRPr>
            </a:pPr>
            <a:r>
              <a:rPr sz="1050">
                <a:solidFill>
                  <a:srgbClr val="667276"/>
                </a:solidFill>
                <a:latin typeface="Arial"/>
                <a:ea typeface="Arial"/>
                <a:cs typeface="Arial"/>
              </a:rPr>
              <a:t>4</a:t>
            </a:r>
          </a:p>
        </p:txBody>
      </p:sp>
    </p:spTree>
    <p:extLst>
      <p:ext uri="{BB962C8B-B14F-4D97-AF65-F5344CB8AC3E}">
        <p14:creationId xmlns:p14="http://schemas.microsoft.com/office/powerpoint/2010/main" val="1211981877"/>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FDE482-3131-46C2-B56B-9632CDBEC03B}"/>
              </a:ext>
            </a:extLst>
          </p:cNvPr>
          <p:cNvSpPr>
            <a:spLocks xmlns:a="http://schemas.openxmlformats.org/drawingml/2006/main" noGrp="1"/>
          </p:cNvSpPr>
          <p:nvPr/>
        </p:nvSpPr>
        <p:spPr>
          <a:xfrm xmlns:a="http://schemas.openxmlformats.org/drawingml/2006/main">
            <a:off x="685800" y="400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33A"/>
                </a:solidFill>
                <a:latin typeface="Arial"/>
                <a:ea typeface="Arial"/>
                <a:cs typeface="Arial"/>
              </a:defRPr>
            </a:pPr>
            <a:r>
              <a:rPr sz="3150" b="1">
                <a:solidFill>
                  <a:srgbClr val="17333A"/>
                </a:solidFill>
                <a:latin typeface="Arial"/>
                <a:ea typeface="Arial"/>
                <a:cs typeface="Arial"/>
              </a:rPr>
              <a:t>Victim records concentrate in the 18-44 age range</a:t>
            </a:r>
          </a:p>
        </p:txBody>
      </p:sp>
      <p:graphicFrame>
        <p:nvGraphicFramePr>
          <p:cNvPr id="7" name="Chart"/>
          <p:cNvGraphicFramePr/>
          <p:nvPr/>
        </p:nvGraphicFramePr>
        <p:xfrm>
          <a:off xmlns:a="http://schemas.openxmlformats.org/drawingml/2006/main" x="1095375" y="1314450"/>
          <a:ext xmlns:a="http://schemas.openxmlformats.org/drawingml/2006/main" cx="9810750" cy="4286250"/>
        </p:xfrm>
        <a:graphic xmlns:a="http://schemas.openxmlformats.org/drawingml/2006/main">
          <a:graphicData uri="http://schemas.openxmlformats.org/drawingml/2006/chart">
            <c:chart xmlns:r="http://schemas.openxmlformats.org/officeDocument/2006/relationships" xmlns:c="http://schemas.openxmlformats.org/drawingml/2006/chart" r:id="R29ec0b8330e642de"/>
          </a:graphicData>
        </a:graphic>
      </p:graphicFrame>
      <p:sp>
        <p:nvSpPr>
          <p:cNvPr id="3" name="">
            <a:extLst xmlns:a="http://schemas.openxmlformats.org/drawingml/2006/main">
              <a:ext uri="{FF2B5EF4-FFF2-40B4-BE49-F238E27FC236}">
                <a16:creationId xmlns:a16="http://schemas.microsoft.com/office/drawing/2014/main" id="{76BE4C0F-2464-4630-BA59-C73A327A0B6B}"/>
              </a:ext>
            </a:extLst>
          </p:cNvPr>
          <p:cNvSpPr>
            <a:spLocks xmlns:a="http://schemas.openxmlformats.org/drawingml/2006/main" noGrp="1"/>
          </p:cNvSpPr>
          <p:nvPr/>
        </p:nvSpPr>
        <p:spPr>
          <a:xfrm xmlns:a="http://schemas.openxmlformats.org/drawingml/2006/main">
            <a:off x="1333500" y="57531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a:solidFill>
                  <a:srgbClr val="17333A"/>
                </a:solidFill>
                <a:latin typeface="Arial"/>
                <a:ea typeface="Arial"/>
                <a:cs typeface="Arial"/>
              </a:defRPr>
            </a:pPr>
            <a:r>
              <a:rPr sz="1650">
                <a:solidFill>
                  <a:srgbClr val="17333A"/>
                </a:solidFill>
                <a:latin typeface="Arial"/>
                <a:ea typeface="Arial"/>
                <a:cs typeface="Arial"/>
              </a:rPr>
              <a:t>The 18-44 groups represent 81.5% of records. Population denominators are unavailable in this file.</a:t>
            </a:r>
          </a:p>
        </p:txBody>
      </p:sp>
      <p:sp>
        <p:nvSpPr>
          <p:cNvPr id="4" name="">
            <a:extLst xmlns:a="http://schemas.openxmlformats.org/drawingml/2006/main">
              <a:ext uri="{FF2B5EF4-FFF2-40B4-BE49-F238E27FC236}">
                <a16:creationId xmlns:a16="http://schemas.microsoft.com/office/drawing/2014/main" id="{967D7E2F-CC19-40B3-ABCC-AD81C6E575E5}"/>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67276"/>
                </a:solidFill>
                <a:latin typeface="Arial"/>
                <a:ea typeface="Arial"/>
                <a:cs typeface="Arial"/>
              </a:defRPr>
            </a:pPr>
            <a:r>
              <a:rPr sz="1050">
                <a:solidFill>
                  <a:srgbClr val="667276"/>
                </a:solidFill>
                <a:latin typeface="Arial"/>
                <a:ea typeface="Arial"/>
                <a:cs typeface="Arial"/>
              </a:rPr>
              <a:t>Source: NYC Open Data / Data.gov; analysis of archived 2006-2024 file</a:t>
            </a:r>
          </a:p>
        </p:txBody>
      </p:sp>
      <p:sp>
        <p:nvSpPr>
          <p:cNvPr id="5" name="">
            <a:extLst xmlns:a="http://schemas.openxmlformats.org/drawingml/2006/main">
              <a:ext uri="{FF2B5EF4-FFF2-40B4-BE49-F238E27FC236}">
                <a16:creationId xmlns:a16="http://schemas.microsoft.com/office/drawing/2014/main" id="{42A8D901-1EF6-4449-8838-9AFE4437F748}"/>
              </a:ext>
            </a:extLst>
          </p:cNvPr>
          <p:cNvSpPr>
            <a:spLocks xmlns:a="http://schemas.openxmlformats.org/drawingml/2006/main" noGrp="1"/>
          </p:cNvSpPr>
          <p:nvPr/>
        </p:nvSpPr>
        <p:spPr>
          <a:xfrm xmlns:a="http://schemas.openxmlformats.org/drawingml/2006/main">
            <a:off x="11315700" y="6429375"/>
            <a:ext cx="19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a:solidFill>
                  <a:srgbClr val="667276"/>
                </a:solidFill>
                <a:latin typeface="Arial"/>
                <a:ea typeface="Arial"/>
                <a:cs typeface="Arial"/>
              </a:defRPr>
            </a:pPr>
            <a:r>
              <a:rPr sz="1050">
                <a:solidFill>
                  <a:srgbClr val="667276"/>
                </a:solidFill>
                <a:latin typeface="Arial"/>
                <a:ea typeface="Arial"/>
                <a:cs typeface="Arial"/>
              </a:rPr>
              <a:t>5</a:t>
            </a:r>
          </a:p>
        </p:txBody>
      </p:sp>
    </p:spTree>
    <p:extLst>
      <p:ext uri="{BB962C8B-B14F-4D97-AF65-F5344CB8AC3E}">
        <p14:creationId xmlns:p14="http://schemas.microsoft.com/office/powerpoint/2010/main" val="1919860731"/>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E4DBE8-0DEC-437C-9F0B-98D18CFA6C40}"/>
              </a:ext>
            </a:extLst>
          </p:cNvPr>
          <p:cNvSpPr>
            <a:spLocks xmlns:a="http://schemas.openxmlformats.org/drawingml/2006/main" noGrp="1"/>
          </p:cNvSpPr>
          <p:nvPr/>
        </p:nvSpPr>
        <p:spPr>
          <a:xfrm xmlns:a="http://schemas.openxmlformats.org/drawingml/2006/main">
            <a:off x="685800" y="400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33A"/>
                </a:solidFill>
                <a:latin typeface="Arial"/>
                <a:ea typeface="Arial"/>
                <a:cs typeface="Arial"/>
              </a:defRPr>
            </a:pPr>
            <a:r>
              <a:rPr sz="3150" b="1">
                <a:solidFill>
                  <a:srgbClr val="17333A"/>
                </a:solidFill>
                <a:latin typeface="Arial"/>
                <a:ea typeface="Arial"/>
                <a:cs typeface="Arial"/>
              </a:rPr>
              <a:t>Model results by borough and victim age</a:t>
            </a:r>
          </a:p>
        </p:txBody>
      </p:sp>
      <p:sp>
        <p:nvSpPr>
          <p:cNvPr id="2" name="">
            <a:extLst xmlns:a="http://schemas.openxmlformats.org/drawingml/2006/main">
              <a:ext uri="{FF2B5EF4-FFF2-40B4-BE49-F238E27FC236}">
                <a16:creationId xmlns:a16="http://schemas.microsoft.com/office/drawing/2014/main" id="{B7AD39E6-E607-4829-A00D-9EDBD1FDD668}"/>
              </a:ext>
            </a:extLst>
          </p:cNvPr>
          <p:cNvSpPr>
            <a:spLocks xmlns:a="http://schemas.openxmlformats.org/drawingml/2006/main" noGrp="1"/>
          </p:cNvSpPr>
          <p:nvPr/>
        </p:nvSpPr>
        <p:spPr>
          <a:xfrm xmlns:a="http://schemas.openxmlformats.org/drawingml/2006/main">
            <a:off x="742950" y="1028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a:solidFill>
                  <a:srgbClr val="667276"/>
                </a:solidFill>
                <a:latin typeface="Arial"/>
                <a:ea typeface="Arial"/>
                <a:cs typeface="Arial"/>
              </a:defRPr>
            </a:pPr>
            <a:r>
              <a:rPr sz="1500">
                <a:solidFill>
                  <a:srgbClr val="667276"/>
                </a:solidFill>
                <a:latin typeface="Arial"/>
                <a:ea typeface="Arial"/>
                <a:cs typeface="Arial"/>
              </a:rPr>
              <a:t>Outcome: statistical murder flag = true     References: Brooklyn, age 25-44, male</a:t>
            </a:r>
          </a:p>
        </p:txBody>
      </p:sp>
      <p:graphicFrame>
        <p:nvGraphicFramePr>
          <p:cNvPr id="8" name=""/>
          <p:cNvGraphicFramePr/>
          <p:nvPr/>
        </p:nvGraphicFramePr>
        <p:xfrm>
          <a:off xmlns:a="http://schemas.openxmlformats.org/drawingml/2006/main" x="1381125" y="1428750"/>
          <a:ext xmlns:a="http://schemas.openxmlformats.org/drawingml/2006/main" cx="9429750" cy="4286250"/>
        </p:xfrm>
        <a:graphic xmlns:a="http://schemas.openxmlformats.org/drawingml/2006/main">
          <a:graphicData uri="http://schemas.openxmlformats.org/drawingml/2006/table">
            <a:tbl>
              <a:tblPr/>
              <a:tblGrid>
                <a:gridCol w="4381500"/>
                <a:gridCol w="2238375"/>
                <a:gridCol w="2809875"/>
              </a:tblGrid>
              <a:tr h="428625">
                <a:tc>
                  <a:txBody>
                    <a:bodyPr/>
                    <a:lstStyle/>
                    <a:p>
                      <a:r>
                        <a:rPr sz="1500" b="1">
                          <a:solidFill>
                            <a:srgbClr val="FFFFFF"/>
                          </a:solidFill>
                          <a:latin typeface="Arial"/>
                          <a:ea typeface="Arial"/>
                          <a:cs typeface="Arial"/>
                        </a:rPr>
                        <a:t>Term</a:t>
                      </a:r>
                    </a:p>
                  </a:txBody>
                  <a:tcPr marL="133350" marR="133350" marT="76200" marB="76200" anchor="ctr">
                    <a:solidFill>
                      <a:srgbClr val="17333A"/>
                    </a:solidFill>
                  </a:tcPr>
                </a:tc>
                <a:tc>
                  <a:txBody>
                    <a:bodyPr/>
                    <a:lstStyle/>
                    <a:p>
                      <a:r>
                        <a:rPr sz="1500" b="1">
                          <a:solidFill>
                            <a:srgbClr val="FFFFFF"/>
                          </a:solidFill>
                          <a:latin typeface="Arial"/>
                          <a:ea typeface="Arial"/>
                          <a:cs typeface="Arial"/>
                        </a:rPr>
                        <a:t>Odds ratio</a:t>
                      </a:r>
                    </a:p>
                  </a:txBody>
                  <a:tcPr marL="133350" marR="133350" marT="76200" marB="76200" anchor="ctr">
                    <a:solidFill>
                      <a:srgbClr val="17333A"/>
                    </a:solidFill>
                  </a:tcPr>
                </a:tc>
                <a:tc>
                  <a:txBody>
                    <a:bodyPr/>
                    <a:lstStyle/>
                    <a:p>
                      <a:r>
                        <a:rPr sz="1500" b="1">
                          <a:solidFill>
                            <a:srgbClr val="FFFFFF"/>
                          </a:solidFill>
                          <a:latin typeface="Arial"/>
                          <a:ea typeface="Arial"/>
                          <a:cs typeface="Arial"/>
                        </a:rPr>
                        <a:t>95% CI</a:t>
                      </a:r>
                    </a:p>
                  </a:txBody>
                  <a:tcPr marL="133350" marR="133350" marT="76200" marB="76200" anchor="ctr">
                    <a:solidFill>
                      <a:srgbClr val="17333A"/>
                    </a:solidFill>
                  </a:tcPr>
                </a:tc>
              </a:tr>
              <a:tr h="428625">
                <a:tc>
                  <a:txBody>
                    <a:bodyPr/>
                    <a:lstStyle/>
                    <a:p>
                      <a:r>
                        <a:rPr sz="1425">
                          <a:solidFill>
                            <a:srgbClr val="1F292C"/>
                          </a:solidFill>
                          <a:latin typeface="Arial"/>
                          <a:ea typeface="Arial"/>
                          <a:cs typeface="Arial"/>
                        </a:rPr>
                        <a:t>Bronx</a:t>
                      </a:r>
                    </a:p>
                  </a:txBody>
                  <a:tcPr marL="133350" marR="133350" marT="66675" marB="66675" anchor="ctr">
                    <a:solidFill>
                      <a:srgbClr val="FCFBF7"/>
                    </a:solidFill>
                  </a:tcPr>
                </a:tc>
                <a:tc>
                  <a:txBody>
                    <a:bodyPr/>
                    <a:lstStyle/>
                    <a:p>
                      <a:r>
                        <a:rPr sz="1425">
                          <a:solidFill>
                            <a:srgbClr val="1F292C"/>
                          </a:solidFill>
                          <a:latin typeface="Arial"/>
                          <a:ea typeface="Arial"/>
                          <a:cs typeface="Arial"/>
                        </a:rPr>
                        <a:t>1.02</a:t>
                      </a:r>
                    </a:p>
                  </a:txBody>
                  <a:tcPr marL="133350" marR="133350" marT="66675" marB="66675" anchor="ctr">
                    <a:solidFill>
                      <a:srgbClr val="FCFBF7"/>
                    </a:solidFill>
                  </a:tcPr>
                </a:tc>
                <a:tc>
                  <a:txBody>
                    <a:bodyPr/>
                    <a:lstStyle/>
                    <a:p>
                      <a:r>
                        <a:rPr sz="1425">
                          <a:solidFill>
                            <a:srgbClr val="1F292C"/>
                          </a:solidFill>
                          <a:latin typeface="Arial"/>
                          <a:ea typeface="Arial"/>
                          <a:cs typeface="Arial"/>
                        </a:rPr>
                        <a:t>0.95-1.10</a:t>
                      </a:r>
                    </a:p>
                  </a:txBody>
                  <a:tcPr marL="133350" marR="133350" marT="66675" marB="66675" anchor="ctr">
                    <a:solidFill>
                      <a:srgbClr val="FCFBF7"/>
                    </a:solidFill>
                  </a:tcPr>
                </a:tc>
              </a:tr>
              <a:tr h="428625">
                <a:tc>
                  <a:txBody>
                    <a:bodyPr/>
                    <a:lstStyle/>
                    <a:p>
                      <a:r>
                        <a:rPr sz="1425">
                          <a:solidFill>
                            <a:srgbClr val="1F292C"/>
                          </a:solidFill>
                          <a:latin typeface="Arial"/>
                          <a:ea typeface="Arial"/>
                          <a:cs typeface="Arial"/>
                        </a:rPr>
                        <a:t>Manhattan</a:t>
                      </a:r>
                    </a:p>
                  </a:txBody>
                  <a:tcPr marL="133350" marR="133350" marT="66675" marB="66675" anchor="ctr">
                    <a:solidFill>
                      <a:srgbClr val="FCFBF7"/>
                    </a:solidFill>
                  </a:tcPr>
                </a:tc>
                <a:tc>
                  <a:txBody>
                    <a:bodyPr/>
                    <a:lstStyle/>
                    <a:p>
                      <a:r>
                        <a:rPr sz="1425">
                          <a:solidFill>
                            <a:srgbClr val="1F292C"/>
                          </a:solidFill>
                          <a:latin typeface="Arial"/>
                          <a:ea typeface="Arial"/>
                          <a:cs typeface="Arial"/>
                        </a:rPr>
                        <a:t>0.91</a:t>
                      </a:r>
                    </a:p>
                  </a:txBody>
                  <a:tcPr marL="133350" marR="133350" marT="66675" marB="66675" anchor="ctr">
                    <a:solidFill>
                      <a:srgbClr val="FCFBF7"/>
                    </a:solidFill>
                  </a:tcPr>
                </a:tc>
                <a:tc>
                  <a:txBody>
                    <a:bodyPr/>
                    <a:lstStyle/>
                    <a:p>
                      <a:r>
                        <a:rPr sz="1425">
                          <a:solidFill>
                            <a:srgbClr val="1F292C"/>
                          </a:solidFill>
                          <a:latin typeface="Arial"/>
                          <a:ea typeface="Arial"/>
                          <a:cs typeface="Arial"/>
                        </a:rPr>
                        <a:t>0.83-1.00</a:t>
                      </a:r>
                    </a:p>
                  </a:txBody>
                  <a:tcPr marL="133350" marR="133350" marT="66675" marB="66675" anchor="ctr">
                    <a:solidFill>
                      <a:srgbClr val="FCFBF7"/>
                    </a:solidFill>
                  </a:tcPr>
                </a:tc>
              </a:tr>
              <a:tr h="428625">
                <a:tc>
                  <a:txBody>
                    <a:bodyPr/>
                    <a:lstStyle/>
                    <a:p>
                      <a:r>
                        <a:rPr sz="1425">
                          <a:solidFill>
                            <a:srgbClr val="1F292C"/>
                          </a:solidFill>
                          <a:latin typeface="Arial"/>
                          <a:ea typeface="Arial"/>
                          <a:cs typeface="Arial"/>
                        </a:rPr>
                        <a:t>Queens</a:t>
                      </a:r>
                    </a:p>
                  </a:txBody>
                  <a:tcPr marL="133350" marR="133350" marT="66675" marB="66675" anchor="ctr">
                    <a:solidFill>
                      <a:srgbClr val="FCFBF7"/>
                    </a:solidFill>
                  </a:tcPr>
                </a:tc>
                <a:tc>
                  <a:txBody>
                    <a:bodyPr/>
                    <a:lstStyle/>
                    <a:p>
                      <a:r>
                        <a:rPr sz="1425">
                          <a:solidFill>
                            <a:srgbClr val="1F292C"/>
                          </a:solidFill>
                          <a:latin typeface="Arial"/>
                          <a:ea typeface="Arial"/>
                          <a:cs typeface="Arial"/>
                        </a:rPr>
                        <a:t>1.00</a:t>
                      </a:r>
                    </a:p>
                  </a:txBody>
                  <a:tcPr marL="133350" marR="133350" marT="66675" marB="66675" anchor="ctr">
                    <a:solidFill>
                      <a:srgbClr val="FCFBF7"/>
                    </a:solidFill>
                  </a:tcPr>
                </a:tc>
                <a:tc>
                  <a:txBody>
                    <a:bodyPr/>
                    <a:lstStyle/>
                    <a:p>
                      <a:r>
                        <a:rPr sz="1425">
                          <a:solidFill>
                            <a:srgbClr val="1F292C"/>
                          </a:solidFill>
                          <a:latin typeface="Arial"/>
                          <a:ea typeface="Arial"/>
                          <a:cs typeface="Arial"/>
                        </a:rPr>
                        <a:t>0.92-1.10</a:t>
                      </a:r>
                    </a:p>
                  </a:txBody>
                  <a:tcPr marL="133350" marR="133350" marT="66675" marB="66675" anchor="ctr">
                    <a:solidFill>
                      <a:srgbClr val="FCFBF7"/>
                    </a:solidFill>
                  </a:tcPr>
                </a:tc>
              </a:tr>
              <a:tr h="428625">
                <a:tc>
                  <a:txBody>
                    <a:bodyPr/>
                    <a:lstStyle/>
                    <a:p>
                      <a:r>
                        <a:rPr sz="1425">
                          <a:solidFill>
                            <a:srgbClr val="1F292C"/>
                          </a:solidFill>
                          <a:latin typeface="Arial"/>
                          <a:ea typeface="Arial"/>
                          <a:cs typeface="Arial"/>
                        </a:rPr>
                        <a:t>Staten Island</a:t>
                      </a:r>
                    </a:p>
                  </a:txBody>
                  <a:tcPr marL="133350" marR="133350" marT="66675" marB="66675" anchor="ctr">
                    <a:solidFill>
                      <a:srgbClr val="FCFBF7"/>
                    </a:solidFill>
                  </a:tcPr>
                </a:tc>
                <a:tc>
                  <a:txBody>
                    <a:bodyPr/>
                    <a:lstStyle/>
                    <a:p>
                      <a:r>
                        <a:rPr sz="1425">
                          <a:solidFill>
                            <a:srgbClr val="1F292C"/>
                          </a:solidFill>
                          <a:latin typeface="Arial"/>
                          <a:ea typeface="Arial"/>
                          <a:cs typeface="Arial"/>
                        </a:rPr>
                        <a:t>1.08</a:t>
                      </a:r>
                    </a:p>
                  </a:txBody>
                  <a:tcPr marL="133350" marR="133350" marT="66675" marB="66675" anchor="ctr">
                    <a:solidFill>
                      <a:srgbClr val="FCFBF7"/>
                    </a:solidFill>
                  </a:tcPr>
                </a:tc>
                <a:tc>
                  <a:txBody>
                    <a:bodyPr/>
                    <a:lstStyle/>
                    <a:p>
                      <a:r>
                        <a:rPr sz="1425">
                          <a:solidFill>
                            <a:srgbClr val="1F292C"/>
                          </a:solidFill>
                          <a:latin typeface="Arial"/>
                          <a:ea typeface="Arial"/>
                          <a:cs typeface="Arial"/>
                        </a:rPr>
                        <a:t>0.91-1.29</a:t>
                      </a:r>
                    </a:p>
                  </a:txBody>
                  <a:tcPr marL="133350" marR="133350" marT="66675" marB="66675" anchor="ctr">
                    <a:solidFill>
                      <a:srgbClr val="FCFBF7"/>
                    </a:solidFill>
                  </a:tcPr>
                </a:tc>
              </a:tr>
              <a:tr h="428625">
                <a:tc>
                  <a:txBody>
                    <a:bodyPr/>
                    <a:lstStyle/>
                    <a:p>
                      <a:r>
                        <a:rPr sz="1425" b="1">
                          <a:solidFill>
                            <a:srgbClr val="1F292C"/>
                          </a:solidFill>
                          <a:latin typeface="Arial"/>
                          <a:ea typeface="Arial"/>
                          <a:cs typeface="Arial"/>
                        </a:rPr>
                        <a:t>Age under 18</a:t>
                      </a:r>
                    </a:p>
                  </a:txBody>
                  <a:tcPr marL="133350" marR="133350" marT="66675" marB="66675" anchor="ctr">
                    <a:solidFill>
                      <a:srgbClr val="F0DFDA"/>
                    </a:solidFill>
                  </a:tcPr>
                </a:tc>
                <a:tc>
                  <a:txBody>
                    <a:bodyPr/>
                    <a:lstStyle/>
                    <a:p>
                      <a:r>
                        <a:rPr sz="1425" b="1">
                          <a:solidFill>
                            <a:srgbClr val="1F292C"/>
                          </a:solidFill>
                          <a:latin typeface="Arial"/>
                          <a:ea typeface="Arial"/>
                          <a:cs typeface="Arial"/>
                        </a:rPr>
                        <a:t>0.54</a:t>
                      </a:r>
                    </a:p>
                  </a:txBody>
                  <a:tcPr marL="133350" marR="133350" marT="66675" marB="66675" anchor="ctr">
                    <a:solidFill>
                      <a:srgbClr val="F0DFDA"/>
                    </a:solidFill>
                  </a:tcPr>
                </a:tc>
                <a:tc>
                  <a:txBody>
                    <a:bodyPr/>
                    <a:lstStyle/>
                    <a:p>
                      <a:r>
                        <a:rPr sz="1425" b="1">
                          <a:solidFill>
                            <a:srgbClr val="1F292C"/>
                          </a:solidFill>
                          <a:latin typeface="Arial"/>
                          <a:ea typeface="Arial"/>
                          <a:cs typeface="Arial"/>
                        </a:rPr>
                        <a:t>0.49-0.61</a:t>
                      </a:r>
                    </a:p>
                  </a:txBody>
                  <a:tcPr marL="133350" marR="133350" marT="66675" marB="66675" anchor="ctr">
                    <a:solidFill>
                      <a:srgbClr val="F0DFDA"/>
                    </a:solidFill>
                  </a:tcPr>
                </a:tc>
              </a:tr>
              <a:tr h="428625">
                <a:tc>
                  <a:txBody>
                    <a:bodyPr/>
                    <a:lstStyle/>
                    <a:p>
                      <a:r>
                        <a:rPr sz="1425" b="1">
                          <a:solidFill>
                            <a:srgbClr val="1F292C"/>
                          </a:solidFill>
                          <a:latin typeface="Arial"/>
                          <a:ea typeface="Arial"/>
                          <a:cs typeface="Arial"/>
                        </a:rPr>
                        <a:t>Age 18-24</a:t>
                      </a:r>
                    </a:p>
                  </a:txBody>
                  <a:tcPr marL="133350" marR="133350" marT="66675" marB="66675" anchor="ctr">
                    <a:solidFill>
                      <a:srgbClr val="F0DFDA"/>
                    </a:solidFill>
                  </a:tcPr>
                </a:tc>
                <a:tc>
                  <a:txBody>
                    <a:bodyPr/>
                    <a:lstStyle/>
                    <a:p>
                      <a:r>
                        <a:rPr sz="1425" b="1">
                          <a:solidFill>
                            <a:srgbClr val="1F292C"/>
                          </a:solidFill>
                          <a:latin typeface="Arial"/>
                          <a:ea typeface="Arial"/>
                          <a:cs typeface="Arial"/>
                        </a:rPr>
                        <a:t>0.71</a:t>
                      </a:r>
                    </a:p>
                  </a:txBody>
                  <a:tcPr marL="133350" marR="133350" marT="66675" marB="66675" anchor="ctr">
                    <a:solidFill>
                      <a:srgbClr val="F0DFDA"/>
                    </a:solidFill>
                  </a:tcPr>
                </a:tc>
                <a:tc>
                  <a:txBody>
                    <a:bodyPr/>
                    <a:lstStyle/>
                    <a:p>
                      <a:r>
                        <a:rPr sz="1425" b="1">
                          <a:solidFill>
                            <a:srgbClr val="1F292C"/>
                          </a:solidFill>
                          <a:latin typeface="Arial"/>
                          <a:ea typeface="Arial"/>
                          <a:cs typeface="Arial"/>
                        </a:rPr>
                        <a:t>0.66-0.76</a:t>
                      </a:r>
                    </a:p>
                  </a:txBody>
                  <a:tcPr marL="133350" marR="133350" marT="66675" marB="66675" anchor="ctr">
                    <a:solidFill>
                      <a:srgbClr val="F0DFDA"/>
                    </a:solidFill>
                  </a:tcPr>
                </a:tc>
              </a:tr>
              <a:tr h="428625">
                <a:tc>
                  <a:txBody>
                    <a:bodyPr/>
                    <a:lstStyle/>
                    <a:p>
                      <a:r>
                        <a:rPr sz="1425" b="1">
                          <a:solidFill>
                            <a:srgbClr val="1F292C"/>
                          </a:solidFill>
                          <a:latin typeface="Arial"/>
                          <a:ea typeface="Arial"/>
                          <a:cs typeface="Arial"/>
                        </a:rPr>
                        <a:t>Age 45-64</a:t>
                      </a:r>
                    </a:p>
                  </a:txBody>
                  <a:tcPr marL="133350" marR="133350" marT="66675" marB="66675" anchor="ctr">
                    <a:solidFill>
                      <a:srgbClr val="F0DFDA"/>
                    </a:solidFill>
                  </a:tcPr>
                </a:tc>
                <a:tc>
                  <a:txBody>
                    <a:bodyPr/>
                    <a:lstStyle/>
                    <a:p>
                      <a:r>
                        <a:rPr sz="1425" b="1">
                          <a:solidFill>
                            <a:srgbClr val="1F292C"/>
                          </a:solidFill>
                          <a:latin typeface="Arial"/>
                          <a:ea typeface="Arial"/>
                          <a:cs typeface="Arial"/>
                        </a:rPr>
                        <a:t>1.20</a:t>
                      </a:r>
                    </a:p>
                  </a:txBody>
                  <a:tcPr marL="133350" marR="133350" marT="66675" marB="66675" anchor="ctr">
                    <a:solidFill>
                      <a:srgbClr val="F0DFDA"/>
                    </a:solidFill>
                  </a:tcPr>
                </a:tc>
                <a:tc>
                  <a:txBody>
                    <a:bodyPr/>
                    <a:lstStyle/>
                    <a:p>
                      <a:r>
                        <a:rPr sz="1425" b="1">
                          <a:solidFill>
                            <a:srgbClr val="1F292C"/>
                          </a:solidFill>
                          <a:latin typeface="Arial"/>
                          <a:ea typeface="Arial"/>
                          <a:cs typeface="Arial"/>
                        </a:rPr>
                        <a:t>1.08-1.33</a:t>
                      </a:r>
                    </a:p>
                  </a:txBody>
                  <a:tcPr marL="133350" marR="133350" marT="66675" marB="66675" anchor="ctr">
                    <a:solidFill>
                      <a:srgbClr val="F0DFDA"/>
                    </a:solidFill>
                  </a:tcPr>
                </a:tc>
              </a:tr>
              <a:tr h="428625">
                <a:tc>
                  <a:txBody>
                    <a:bodyPr/>
                    <a:lstStyle/>
                    <a:p>
                      <a:r>
                        <a:rPr sz="1425" b="1">
                          <a:solidFill>
                            <a:srgbClr val="1F292C"/>
                          </a:solidFill>
                          <a:latin typeface="Arial"/>
                          <a:ea typeface="Arial"/>
                          <a:cs typeface="Arial"/>
                        </a:rPr>
                        <a:t>Age 65+</a:t>
                      </a:r>
                    </a:p>
                  </a:txBody>
                  <a:tcPr marL="133350" marR="133350" marT="66675" marB="66675" anchor="ctr">
                    <a:solidFill>
                      <a:srgbClr val="F0DFDA"/>
                    </a:solidFill>
                  </a:tcPr>
                </a:tc>
                <a:tc>
                  <a:txBody>
                    <a:bodyPr/>
                    <a:lstStyle/>
                    <a:p>
                      <a:r>
                        <a:rPr sz="1425" b="1">
                          <a:solidFill>
                            <a:srgbClr val="1F292C"/>
                          </a:solidFill>
                          <a:latin typeface="Arial"/>
                          <a:ea typeface="Arial"/>
                          <a:cs typeface="Arial"/>
                        </a:rPr>
                        <a:t>1.55</a:t>
                      </a:r>
                    </a:p>
                  </a:txBody>
                  <a:tcPr marL="133350" marR="133350" marT="66675" marB="66675" anchor="ctr">
                    <a:solidFill>
                      <a:srgbClr val="F0DFDA"/>
                    </a:solidFill>
                  </a:tcPr>
                </a:tc>
                <a:tc>
                  <a:txBody>
                    <a:bodyPr/>
                    <a:lstStyle/>
                    <a:p>
                      <a:r>
                        <a:rPr sz="1425" b="1">
                          <a:solidFill>
                            <a:srgbClr val="1F292C"/>
                          </a:solidFill>
                          <a:latin typeface="Arial"/>
                          <a:ea typeface="Arial"/>
                          <a:cs typeface="Arial"/>
                        </a:rPr>
                        <a:t>1.17-2.06</a:t>
                      </a:r>
                    </a:p>
                  </a:txBody>
                  <a:tcPr marL="133350" marR="133350" marT="66675" marB="66675" anchor="ctr">
                    <a:solidFill>
                      <a:srgbClr val="F0DFDA"/>
                    </a:solidFill>
                  </a:tcPr>
                </a:tc>
              </a:tr>
              <a:tr h="428625">
                <a:tc>
                  <a:txBody>
                    <a:bodyPr/>
                    <a:lstStyle/>
                    <a:p>
                      <a:r>
                        <a:rPr sz="1425">
                          <a:solidFill>
                            <a:srgbClr val="1F292C"/>
                          </a:solidFill>
                          <a:latin typeface="Arial"/>
                          <a:ea typeface="Arial"/>
                          <a:cs typeface="Arial"/>
                        </a:rPr>
                        <a:t>Female</a:t>
                      </a:r>
                    </a:p>
                  </a:txBody>
                  <a:tcPr marL="133350" marR="133350" marT="66675" marB="66675" anchor="ctr">
                    <a:solidFill>
                      <a:srgbClr val="FCFBF7"/>
                    </a:solidFill>
                  </a:tcPr>
                </a:tc>
                <a:tc>
                  <a:txBody>
                    <a:bodyPr/>
                    <a:lstStyle/>
                    <a:p>
                      <a:r>
                        <a:rPr sz="1425">
                          <a:solidFill>
                            <a:srgbClr val="1F292C"/>
                          </a:solidFill>
                          <a:latin typeface="Arial"/>
                          <a:ea typeface="Arial"/>
                          <a:cs typeface="Arial"/>
                        </a:rPr>
                        <a:t>1.04</a:t>
                      </a:r>
                    </a:p>
                  </a:txBody>
                  <a:tcPr marL="133350" marR="133350" marT="66675" marB="66675" anchor="ctr">
                    <a:solidFill>
                      <a:srgbClr val="FCFBF7"/>
                    </a:solidFill>
                  </a:tcPr>
                </a:tc>
                <a:tc>
                  <a:txBody>
                    <a:bodyPr/>
                    <a:lstStyle/>
                    <a:p>
                      <a:r>
                        <a:rPr sz="1425">
                          <a:solidFill>
                            <a:srgbClr val="1F292C"/>
                          </a:solidFill>
                          <a:latin typeface="Arial"/>
                          <a:ea typeface="Arial"/>
                          <a:cs typeface="Arial"/>
                        </a:rPr>
                        <a:t>0.95-1.15</a:t>
                      </a:r>
                    </a:p>
                  </a:txBody>
                  <a:tcPr marL="133350" marR="133350" marT="66675" marB="66675" anchor="ctr">
                    <a:solidFill>
                      <a:srgbClr val="FCFBF7"/>
                    </a:solidFill>
                  </a:tcPr>
                </a:tc>
              </a:tr>
            </a:tbl>
          </a:graphicData>
        </a:graphic>
      </p:graphicFrame>
      <p:sp>
        <p:nvSpPr>
          <p:cNvPr id="4" name="">
            <a:extLst xmlns:a="http://schemas.openxmlformats.org/drawingml/2006/main">
              <a:ext uri="{FF2B5EF4-FFF2-40B4-BE49-F238E27FC236}">
                <a16:creationId xmlns:a16="http://schemas.microsoft.com/office/drawing/2014/main" id="{88046DE2-233B-4254-9461-BE30DD5F8AEA}"/>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67276"/>
                </a:solidFill>
                <a:latin typeface="Arial"/>
                <a:ea typeface="Arial"/>
                <a:cs typeface="Arial"/>
              </a:defRPr>
            </a:pPr>
            <a:r>
              <a:rPr sz="1050">
                <a:solidFill>
                  <a:srgbClr val="667276"/>
                </a:solidFill>
                <a:latin typeface="Arial"/>
                <a:ea typeface="Arial"/>
                <a:cs typeface="Arial"/>
              </a:rPr>
              <a:t>Source: NYC Open Data / Data.gov; analysis of archived 2006-2024 file</a:t>
            </a:r>
          </a:p>
        </p:txBody>
      </p:sp>
      <p:sp>
        <p:nvSpPr>
          <p:cNvPr id="5" name="">
            <a:extLst xmlns:a="http://schemas.openxmlformats.org/drawingml/2006/main">
              <a:ext uri="{FF2B5EF4-FFF2-40B4-BE49-F238E27FC236}">
                <a16:creationId xmlns:a16="http://schemas.microsoft.com/office/drawing/2014/main" id="{9E2AFD4F-555A-4D1C-B401-313F2365D10F}"/>
              </a:ext>
            </a:extLst>
          </p:cNvPr>
          <p:cNvSpPr>
            <a:spLocks xmlns:a="http://schemas.openxmlformats.org/drawingml/2006/main" noGrp="1"/>
          </p:cNvSpPr>
          <p:nvPr/>
        </p:nvSpPr>
        <p:spPr>
          <a:xfrm xmlns:a="http://schemas.openxmlformats.org/drawingml/2006/main">
            <a:off x="11315700" y="6429375"/>
            <a:ext cx="19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a:solidFill>
                  <a:srgbClr val="667276"/>
                </a:solidFill>
                <a:latin typeface="Arial"/>
                <a:ea typeface="Arial"/>
                <a:cs typeface="Arial"/>
              </a:defRPr>
            </a:pPr>
            <a:r>
              <a:rPr sz="1050">
                <a:solidFill>
                  <a:srgbClr val="667276"/>
                </a:solidFill>
                <a:latin typeface="Arial"/>
                <a:ea typeface="Arial"/>
                <a:cs typeface="Arial"/>
              </a:rPr>
              <a:t>6</a:t>
            </a:r>
          </a:p>
        </p:txBody>
      </p:sp>
    </p:spTree>
    <p:extLst>
      <p:ext uri="{BB962C8B-B14F-4D97-AF65-F5344CB8AC3E}">
        <p14:creationId xmlns:p14="http://schemas.microsoft.com/office/powerpoint/2010/main" val="1277715180"/>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DC4948-A978-40DA-90A4-1C6BA26B2628}"/>
              </a:ext>
            </a:extLst>
          </p:cNvPr>
          <p:cNvSpPr>
            <a:spLocks xmlns:a="http://schemas.openxmlformats.org/drawingml/2006/main" noGrp="1"/>
          </p:cNvSpPr>
          <p:nvPr/>
        </p:nvSpPr>
        <p:spPr>
          <a:xfrm xmlns:a="http://schemas.openxmlformats.org/drawingml/2006/main">
            <a:off x="685800" y="400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33A"/>
                </a:solidFill>
                <a:latin typeface="Arial"/>
                <a:ea typeface="Arial"/>
                <a:cs typeface="Arial"/>
              </a:defRPr>
            </a:pPr>
            <a:r>
              <a:rPr sz="3150" b="1">
                <a:solidFill>
                  <a:srgbClr val="17333A"/>
                </a:solidFill>
                <a:latin typeface="Arial"/>
                <a:ea typeface="Arial"/>
                <a:cs typeface="Arial"/>
              </a:rPr>
              <a:t>Interpretation and limitations</a:t>
            </a:r>
          </a:p>
        </p:txBody>
      </p:sp>
      <p:sp>
        <p:nvSpPr>
          <p:cNvPr id="2" name="">
            <a:extLst xmlns:a="http://schemas.openxmlformats.org/drawingml/2006/main">
              <a:ext uri="{FF2B5EF4-FFF2-40B4-BE49-F238E27FC236}">
                <a16:creationId xmlns:a16="http://schemas.microsoft.com/office/drawing/2014/main" id="{0984D07B-5FE5-4000-AB46-05B6A89A1E7B}"/>
              </a:ext>
            </a:extLst>
          </p:cNvPr>
          <p:cNvSpPr>
            <a:spLocks xmlns:a="http://schemas.openxmlformats.org/drawingml/2006/main" noGrp="1"/>
          </p:cNvSpPr>
          <p:nvPr/>
        </p:nvSpPr>
        <p:spPr>
          <a:xfrm xmlns:a="http://schemas.openxmlformats.org/drawingml/2006/main">
            <a:off x="742950" y="14287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F6F73"/>
                </a:solidFill>
                <a:latin typeface="Arial"/>
                <a:ea typeface="Arial"/>
                <a:cs typeface="Arial"/>
              </a:defRPr>
            </a:pPr>
            <a:r>
              <a:rPr sz="2175" b="1">
                <a:solidFill>
                  <a:srgbClr val="2F6F73"/>
                </a:solidFill>
                <a:latin typeface="Arial"/>
                <a:ea typeface="Arial"/>
                <a:cs typeface="Arial"/>
              </a:rPr>
              <a:t>What the analysis supports</a:t>
            </a:r>
          </a:p>
        </p:txBody>
      </p:sp>
      <p:sp>
        <p:nvSpPr>
          <p:cNvPr id="3" name="">
            <a:extLst xmlns:a="http://schemas.openxmlformats.org/drawingml/2006/main">
              <a:ext uri="{FF2B5EF4-FFF2-40B4-BE49-F238E27FC236}">
                <a16:creationId xmlns:a16="http://schemas.microsoft.com/office/drawing/2014/main" id="{E06D3D7C-2173-489A-8322-8173D5E6E596}"/>
              </a:ext>
            </a:extLst>
          </p:cNvPr>
          <p:cNvSpPr>
            <a:spLocks xmlns:a="http://schemas.openxmlformats.org/drawingml/2006/main" noGrp="1"/>
          </p:cNvSpPr>
          <p:nvPr/>
        </p:nvSpPr>
        <p:spPr>
          <a:xfrm xmlns:a="http://schemas.openxmlformats.org/drawingml/2006/main">
            <a:off x="742950" y="20478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800"/>
              </a:spcAft>
              <a:buChar char="•"/>
              <a:defRPr sz="1875">
                <a:solidFill>
                  <a:srgbClr val="1F292C"/>
                </a:solidFill>
                <a:latin typeface="Arial"/>
                <a:ea typeface="Arial"/>
                <a:cs typeface="Arial"/>
              </a:defRPr>
            </a:pPr>
            <a:r>
              <a:rPr sz="1875">
                <a:solidFill>
                  <a:srgbClr val="1F292C"/>
                </a:solidFill>
                <a:latin typeface="Arial"/>
                <a:ea typeface="Arial"/>
                <a:cs typeface="Arial"/>
              </a:rPr>
              <a:t>Annual patterns in the archived records</a:t>
            </a:r>
          </a:p>
          <a:p xmlns:a="http://schemas.openxmlformats.org/drawingml/2006/main">
            <a:pPr marL="228600" indent="-114300">
              <a:spcAft>
                <a:spcPts val="1800"/>
              </a:spcAft>
              <a:buChar char="•"/>
              <a:defRPr sz="1875">
                <a:solidFill>
                  <a:srgbClr val="1F292C"/>
                </a:solidFill>
                <a:latin typeface="Arial"/>
                <a:ea typeface="Arial"/>
                <a:cs typeface="Arial"/>
              </a:defRPr>
            </a:pPr>
            <a:r>
              <a:rPr sz="1875">
                <a:solidFill>
                  <a:srgbClr val="1F292C"/>
                </a:solidFill>
                <a:latin typeface="Arial"/>
                <a:ea typeface="Arial"/>
                <a:cs typeface="Arial"/>
              </a:rPr>
              <a:t>Raw differences across boroughs and age groups</a:t>
            </a:r>
          </a:p>
          <a:p xmlns:a="http://schemas.openxmlformats.org/drawingml/2006/main">
            <a:pPr marL="228600" indent="-114300">
              <a:spcAft>
                <a:spcPts val="1800"/>
              </a:spcAft>
              <a:buChar char="•"/>
              <a:defRPr sz="1875">
                <a:solidFill>
                  <a:srgbClr val="1F292C"/>
                </a:solidFill>
                <a:latin typeface="Arial"/>
                <a:ea typeface="Arial"/>
                <a:cs typeface="Arial"/>
              </a:defRPr>
            </a:pPr>
            <a:r>
              <a:rPr sz="1875">
                <a:solidFill>
                  <a:srgbClr val="1F292C"/>
                </a:solidFill>
                <a:latin typeface="Arial"/>
                <a:ea typeface="Arial"/>
                <a:cs typeface="Arial"/>
              </a:rPr>
              <a:t>Conditional associations in a simple logistic model</a:t>
            </a:r>
          </a:p>
        </p:txBody>
      </p:sp>
      <p:sp>
        <p:nvSpPr>
          <p:cNvPr id="4" name="">
            <a:extLst xmlns:a="http://schemas.openxmlformats.org/drawingml/2006/main">
              <a:ext uri="{FF2B5EF4-FFF2-40B4-BE49-F238E27FC236}">
                <a16:creationId xmlns:a16="http://schemas.microsoft.com/office/drawing/2014/main" id="{16629DF9-22A3-4980-898A-9DE1130A928A}"/>
              </a:ext>
            </a:extLst>
          </p:cNvPr>
          <p:cNvSpPr>
            <a:spLocks xmlns:a="http://schemas.openxmlformats.org/drawingml/2006/main" noGrp="1"/>
          </p:cNvSpPr>
          <p:nvPr/>
        </p:nvSpPr>
        <p:spPr>
          <a:xfrm xmlns:a="http://schemas.openxmlformats.org/drawingml/2006/main">
            <a:off x="6667500" y="14287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95D4F"/>
                </a:solidFill>
                <a:latin typeface="Arial"/>
                <a:ea typeface="Arial"/>
                <a:cs typeface="Arial"/>
              </a:defRPr>
            </a:pPr>
            <a:r>
              <a:rPr sz="2175" b="1">
                <a:solidFill>
                  <a:srgbClr val="A95D4F"/>
                </a:solidFill>
                <a:latin typeface="Arial"/>
                <a:ea typeface="Arial"/>
                <a:cs typeface="Arial"/>
              </a:rPr>
              <a:t>Important constraints</a:t>
            </a:r>
          </a:p>
        </p:txBody>
      </p:sp>
      <p:sp>
        <p:nvSpPr>
          <p:cNvPr id="5" name="">
            <a:extLst xmlns:a="http://schemas.openxmlformats.org/drawingml/2006/main">
              <a:ext uri="{FF2B5EF4-FFF2-40B4-BE49-F238E27FC236}">
                <a16:creationId xmlns:a16="http://schemas.microsoft.com/office/drawing/2014/main" id="{4D2CB196-6AAB-4DCE-A460-E30B8E57AE57}"/>
              </a:ext>
            </a:extLst>
          </p:cNvPr>
          <p:cNvSpPr>
            <a:spLocks xmlns:a="http://schemas.openxmlformats.org/drawingml/2006/main" noGrp="1"/>
          </p:cNvSpPr>
          <p:nvPr/>
        </p:nvSpPr>
        <p:spPr>
          <a:xfrm xmlns:a="http://schemas.openxmlformats.org/drawingml/2006/main">
            <a:off x="6667500" y="20478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800"/>
              </a:spcAft>
              <a:buChar char="•"/>
              <a:defRPr sz="1875">
                <a:solidFill>
                  <a:srgbClr val="1F292C"/>
                </a:solidFill>
                <a:latin typeface="Arial"/>
                <a:ea typeface="Arial"/>
                <a:cs typeface="Arial"/>
              </a:defRPr>
            </a:pPr>
            <a:r>
              <a:rPr sz="1875">
                <a:solidFill>
                  <a:srgbClr val="1F292C"/>
                </a:solidFill>
                <a:latin typeface="Arial"/>
                <a:ea typeface="Arial"/>
                <a:cs typeface="Arial"/>
              </a:rPr>
              <a:t>Raw counts lack population and exposure denominators</a:t>
            </a:r>
          </a:p>
          <a:p xmlns:a="http://schemas.openxmlformats.org/drawingml/2006/main">
            <a:pPr marL="228600" indent="-114300">
              <a:spcAft>
                <a:spcPts val="1800"/>
              </a:spcAft>
              <a:buChar char="•"/>
              <a:defRPr sz="1875">
                <a:solidFill>
                  <a:srgbClr val="1F292C"/>
                </a:solidFill>
                <a:latin typeface="Arial"/>
                <a:ea typeface="Arial"/>
                <a:cs typeface="Arial"/>
              </a:defRPr>
            </a:pPr>
            <a:r>
              <a:rPr sz="1875">
                <a:solidFill>
                  <a:srgbClr val="1F292C"/>
                </a:solidFill>
                <a:latin typeface="Arial"/>
                <a:ea typeface="Arial"/>
                <a:cs typeface="Arial"/>
              </a:rPr>
              <a:t>Missing demographic fields may introduce selection bias</a:t>
            </a:r>
          </a:p>
          <a:p xmlns:a="http://schemas.openxmlformats.org/drawingml/2006/main">
            <a:pPr marL="228600" indent="-114300">
              <a:spcAft>
                <a:spcPts val="1800"/>
              </a:spcAft>
              <a:buChar char="•"/>
              <a:defRPr sz="1875">
                <a:solidFill>
                  <a:srgbClr val="1F292C"/>
                </a:solidFill>
                <a:latin typeface="Arial"/>
                <a:ea typeface="Arial"/>
                <a:cs typeface="Arial"/>
              </a:defRPr>
            </a:pPr>
            <a:r>
              <a:rPr sz="1875">
                <a:solidFill>
                  <a:srgbClr val="1F292C"/>
                </a:solidFill>
                <a:latin typeface="Arial"/>
                <a:ea typeface="Arial"/>
                <a:cs typeface="Arial"/>
              </a:rPr>
              <a:t>Repeated incident keys weaken an independence assumption</a:t>
            </a:r>
          </a:p>
        </p:txBody>
      </p:sp>
      <p:sp>
        <p:nvSpPr>
          <p:cNvPr id="6" name="">
            <a:extLst xmlns:a="http://schemas.openxmlformats.org/drawingml/2006/main">
              <a:ext uri="{FF2B5EF4-FFF2-40B4-BE49-F238E27FC236}">
                <a16:creationId xmlns:a16="http://schemas.microsoft.com/office/drawing/2014/main" id="{3A19A085-2511-4732-A5B5-53F8A7389719}"/>
              </a:ext>
            </a:extLst>
          </p:cNvPr>
          <p:cNvSpPr>
            <a:spLocks xmlns:a="http://schemas.openxmlformats.org/drawingml/2006/main" noGrp="1"/>
          </p:cNvSpPr>
          <p:nvPr/>
        </p:nvSpPr>
        <p:spPr>
          <a:xfrm xmlns:a="http://schemas.openxmlformats.org/drawingml/2006/main">
            <a:off x="742950" y="5219700"/>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33A"/>
                </a:solidFill>
                <a:latin typeface="Arial"/>
                <a:ea typeface="Arial"/>
                <a:cs typeface="Arial"/>
              </a:defRPr>
            </a:pPr>
            <a:r>
              <a:rPr sz="3600" b="1">
                <a:solidFill>
                  <a:srgbClr val="17333A"/>
                </a:solidFill>
                <a:latin typeface="Arial"/>
                <a:ea typeface="Arial"/>
                <a:cs typeface="Arial"/>
              </a:rPr>
              <a:t>6,446</a:t>
            </a:r>
          </a:p>
        </p:txBody>
      </p:sp>
      <p:sp>
        <p:nvSpPr>
          <p:cNvPr id="7" name="">
            <a:extLst xmlns:a="http://schemas.openxmlformats.org/drawingml/2006/main">
              <a:ext uri="{FF2B5EF4-FFF2-40B4-BE49-F238E27FC236}">
                <a16:creationId xmlns:a16="http://schemas.microsoft.com/office/drawing/2014/main" id="{9FB6C7CF-CF8C-48C9-B9E9-998032E070F4}"/>
              </a:ext>
            </a:extLst>
          </p:cNvPr>
          <p:cNvSpPr>
            <a:spLocks xmlns:a="http://schemas.openxmlformats.org/drawingml/2006/main" noGrp="1"/>
          </p:cNvSpPr>
          <p:nvPr/>
        </p:nvSpPr>
        <p:spPr>
          <a:xfrm xmlns:a="http://schemas.openxmlformats.org/drawingml/2006/main">
            <a:off x="2781300" y="5305425"/>
            <a:ext cx="590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a:solidFill>
                  <a:srgbClr val="17333A"/>
                </a:solidFill>
                <a:latin typeface="Arial"/>
                <a:ea typeface="Arial"/>
                <a:cs typeface="Arial"/>
              </a:defRPr>
            </a:pPr>
            <a:r>
              <a:rPr sz="1800">
                <a:solidFill>
                  <a:srgbClr val="17333A"/>
                </a:solidFill>
                <a:latin typeface="Arial"/>
                <a:ea typeface="Arial"/>
                <a:cs typeface="Arial"/>
              </a:rPr>
              <a:t>rows beyond one row per distinct incident key</a:t>
            </a:r>
          </a:p>
        </p:txBody>
      </p:sp>
      <p:sp>
        <p:nvSpPr>
          <p:cNvPr id="8" name="">
            <a:extLst xmlns:a="http://schemas.openxmlformats.org/drawingml/2006/main">
              <a:ext uri="{FF2B5EF4-FFF2-40B4-BE49-F238E27FC236}">
                <a16:creationId xmlns:a16="http://schemas.microsoft.com/office/drawing/2014/main" id="{67327223-1812-4F75-BE3E-7DF5BB8983CF}"/>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67276"/>
                </a:solidFill>
                <a:latin typeface="Arial"/>
                <a:ea typeface="Arial"/>
                <a:cs typeface="Arial"/>
              </a:defRPr>
            </a:pPr>
            <a:r>
              <a:rPr sz="1050">
                <a:solidFill>
                  <a:srgbClr val="667276"/>
                </a:solidFill>
                <a:latin typeface="Arial"/>
                <a:ea typeface="Arial"/>
                <a:cs typeface="Arial"/>
              </a:rPr>
              <a:t>Source: NYC Open Data / Data.gov; analysis of archived 2006-2024 file</a:t>
            </a:r>
          </a:p>
        </p:txBody>
      </p:sp>
      <p:sp>
        <p:nvSpPr>
          <p:cNvPr id="9" name="">
            <a:extLst xmlns:a="http://schemas.openxmlformats.org/drawingml/2006/main">
              <a:ext uri="{FF2B5EF4-FFF2-40B4-BE49-F238E27FC236}">
                <a16:creationId xmlns:a16="http://schemas.microsoft.com/office/drawing/2014/main" id="{214B6662-B75A-4E12-A1FA-514C99E4A9A8}"/>
              </a:ext>
            </a:extLst>
          </p:cNvPr>
          <p:cNvSpPr>
            <a:spLocks xmlns:a="http://schemas.openxmlformats.org/drawingml/2006/main" noGrp="1"/>
          </p:cNvSpPr>
          <p:nvPr/>
        </p:nvSpPr>
        <p:spPr>
          <a:xfrm xmlns:a="http://schemas.openxmlformats.org/drawingml/2006/main">
            <a:off x="11315700" y="6429375"/>
            <a:ext cx="19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a:solidFill>
                  <a:srgbClr val="667276"/>
                </a:solidFill>
                <a:latin typeface="Arial"/>
                <a:ea typeface="Arial"/>
                <a:cs typeface="Arial"/>
              </a:defRPr>
            </a:pPr>
            <a:r>
              <a:rPr sz="1050">
                <a:solidFill>
                  <a:srgbClr val="667276"/>
                </a:solidFill>
                <a:latin typeface="Arial"/>
                <a:ea typeface="Arial"/>
                <a:cs typeface="Arial"/>
              </a:rPr>
              <a:t>7</a:t>
            </a:r>
          </a:p>
        </p:txBody>
      </p:sp>
    </p:spTree>
    <p:extLst>
      <p:ext uri="{BB962C8B-B14F-4D97-AF65-F5344CB8AC3E}">
        <p14:creationId xmlns:p14="http://schemas.microsoft.com/office/powerpoint/2010/main" val="1615739579"/>
      </p:ext>
    </p:extLst>
  </p:cSld>
</p:sld>
</file>

<file path=ppt/slides/slide8.xml><?xml version="1.0" encoding="utf-8"?>
<p:sld xmlns:p="http://schemas.openxmlformats.org/presentationml/2006/main">
  <p:cSld>
    <p:bg>
      <p:bgPr>
        <a:solidFill xmlns:a="http://schemas.openxmlformats.org/drawingml/2006/main">
          <a:srgbClr val="17333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B6178F-D86C-4D50-AC9E-8CAB6054B931}"/>
              </a:ext>
            </a:extLst>
          </p:cNvPr>
          <p:cNvSpPr>
            <a:spLocks xmlns:a="http://schemas.openxmlformats.org/drawingml/2006/main" noGrp="1"/>
          </p:cNvSpPr>
          <p:nvPr/>
        </p:nvSpPr>
        <p:spPr>
          <a:xfrm xmlns:a="http://schemas.openxmlformats.org/drawingml/2006/main">
            <a:off x="781050" y="5524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What the analysis shows</a:t>
            </a:r>
          </a:p>
        </p:txBody>
      </p:sp>
      <p:sp>
        <p:nvSpPr>
          <p:cNvPr id="2" name="">
            <a:extLst xmlns:a="http://schemas.openxmlformats.org/drawingml/2006/main">
              <a:ext uri="{FF2B5EF4-FFF2-40B4-BE49-F238E27FC236}">
                <a16:creationId xmlns:a16="http://schemas.microsoft.com/office/drawing/2014/main" id="{0E8A641E-BC3F-4AB7-BFAB-830E4DF0B38A}"/>
              </a:ext>
            </a:extLst>
          </p:cNvPr>
          <p:cNvSpPr>
            <a:spLocks xmlns:a="http://schemas.openxmlformats.org/drawingml/2006/main" noGrp="1"/>
          </p:cNvSpPr>
          <p:nvPr/>
        </p:nvSpPr>
        <p:spPr>
          <a:xfrm xmlns:a="http://schemas.openxmlformats.org/drawingml/2006/main">
            <a:off x="819150" y="17145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EC5C1"/>
                </a:solidFill>
                <a:latin typeface="Arial"/>
                <a:ea typeface="Arial"/>
                <a:cs typeface="Arial"/>
              </a:defRPr>
            </a:pPr>
            <a:r>
              <a:rPr sz="1950" b="1">
                <a:solidFill>
                  <a:srgbClr val="9EC5C1"/>
                </a:solidFill>
                <a:latin typeface="Arial"/>
                <a:ea typeface="Arial"/>
                <a:cs typeface="Arial"/>
              </a:rPr>
              <a:t>Time</a:t>
            </a:r>
          </a:p>
        </p:txBody>
      </p:sp>
      <p:sp>
        <p:nvSpPr>
          <p:cNvPr id="3" name="">
            <a:extLst xmlns:a="http://schemas.openxmlformats.org/drawingml/2006/main">
              <a:ext uri="{FF2B5EF4-FFF2-40B4-BE49-F238E27FC236}">
                <a16:creationId xmlns:a16="http://schemas.microsoft.com/office/drawing/2014/main" id="{CFD10A5A-EA90-48B3-B26B-69B158DA5B4C}"/>
              </a:ext>
            </a:extLst>
          </p:cNvPr>
          <p:cNvSpPr>
            <a:spLocks xmlns:a="http://schemas.openxmlformats.org/drawingml/2006/main" noGrp="1"/>
          </p:cNvSpPr>
          <p:nvPr/>
        </p:nvSpPr>
        <p:spPr>
          <a:xfrm xmlns:a="http://schemas.openxmlformats.org/drawingml/2006/main">
            <a:off x="2476500" y="1676400"/>
            <a:ext cx="819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FFFFFF"/>
                </a:solidFill>
                <a:latin typeface="Arial"/>
                <a:ea typeface="Arial"/>
                <a:cs typeface="Arial"/>
              </a:defRPr>
            </a:pPr>
            <a:r>
              <a:rPr sz="2175">
                <a:solidFill>
                  <a:srgbClr val="FFFFFF"/>
                </a:solidFill>
                <a:latin typeface="Arial"/>
                <a:ea typeface="Arial"/>
                <a:cs typeface="Arial"/>
              </a:rPr>
              <a:t>Counts reached a low in 2018, surged in 2020-2021, and then declined.</a:t>
            </a:r>
          </a:p>
        </p:txBody>
      </p:sp>
      <p:sp>
        <p:nvSpPr>
          <p:cNvPr id="4" name="">
            <a:extLst xmlns:a="http://schemas.openxmlformats.org/drawingml/2006/main">
              <a:ext uri="{FF2B5EF4-FFF2-40B4-BE49-F238E27FC236}">
                <a16:creationId xmlns:a16="http://schemas.microsoft.com/office/drawing/2014/main" id="{666CB174-E1E4-4C23-BD30-7970CFEA7047}"/>
              </a:ext>
            </a:extLst>
          </p:cNvPr>
          <p:cNvSpPr>
            <a:spLocks xmlns:a="http://schemas.openxmlformats.org/drawingml/2006/main" noGrp="1"/>
          </p:cNvSpPr>
          <p:nvPr/>
        </p:nvSpPr>
        <p:spPr>
          <a:xfrm xmlns:a="http://schemas.openxmlformats.org/drawingml/2006/main">
            <a:off x="819150" y="28956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8B4A8"/>
                </a:solidFill>
                <a:latin typeface="Arial"/>
                <a:ea typeface="Arial"/>
                <a:cs typeface="Arial"/>
              </a:defRPr>
            </a:pPr>
            <a:r>
              <a:rPr sz="1950" b="1">
                <a:solidFill>
                  <a:srgbClr val="E8B4A8"/>
                </a:solidFill>
                <a:latin typeface="Arial"/>
                <a:ea typeface="Arial"/>
                <a:cs typeface="Arial"/>
              </a:rPr>
              <a:t>Place</a:t>
            </a:r>
          </a:p>
        </p:txBody>
      </p:sp>
      <p:sp>
        <p:nvSpPr>
          <p:cNvPr id="5" name="">
            <a:extLst xmlns:a="http://schemas.openxmlformats.org/drawingml/2006/main">
              <a:ext uri="{FF2B5EF4-FFF2-40B4-BE49-F238E27FC236}">
                <a16:creationId xmlns:a16="http://schemas.microsoft.com/office/drawing/2014/main" id="{9A9ED4FA-168B-4794-BFC1-A6AB3715D9F1}"/>
              </a:ext>
            </a:extLst>
          </p:cNvPr>
          <p:cNvSpPr>
            <a:spLocks xmlns:a="http://schemas.openxmlformats.org/drawingml/2006/main" noGrp="1"/>
          </p:cNvSpPr>
          <p:nvPr/>
        </p:nvSpPr>
        <p:spPr>
          <a:xfrm xmlns:a="http://schemas.openxmlformats.org/drawingml/2006/main">
            <a:off x="2476500" y="2819400"/>
            <a:ext cx="819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FFFFFF"/>
                </a:solidFill>
                <a:latin typeface="Arial"/>
                <a:ea typeface="Arial"/>
                <a:cs typeface="Arial"/>
              </a:defRPr>
            </a:pPr>
            <a:r>
              <a:rPr sz="2175">
                <a:solidFill>
                  <a:srgbClr val="FFFFFF"/>
                </a:solidFill>
                <a:latin typeface="Arial"/>
                <a:ea typeface="Arial"/>
                <a:cs typeface="Arial"/>
              </a:rPr>
              <a:t>Brooklyn and the Bronx have the largest raw counts, but the data do not measure individual risk.</a:t>
            </a:r>
          </a:p>
        </p:txBody>
      </p:sp>
      <p:sp>
        <p:nvSpPr>
          <p:cNvPr id="6" name="">
            <a:extLst xmlns:a="http://schemas.openxmlformats.org/drawingml/2006/main">
              <a:ext uri="{FF2B5EF4-FFF2-40B4-BE49-F238E27FC236}">
                <a16:creationId xmlns:a16="http://schemas.microsoft.com/office/drawing/2014/main" id="{A8CC8952-EECB-49F0-A282-13318B1BE83D}"/>
              </a:ext>
            </a:extLst>
          </p:cNvPr>
          <p:cNvSpPr>
            <a:spLocks xmlns:a="http://schemas.openxmlformats.org/drawingml/2006/main" noGrp="1"/>
          </p:cNvSpPr>
          <p:nvPr/>
        </p:nvSpPr>
        <p:spPr>
          <a:xfrm xmlns:a="http://schemas.openxmlformats.org/drawingml/2006/main">
            <a:off x="819150" y="41910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7D2A8"/>
                </a:solidFill>
                <a:latin typeface="Arial"/>
                <a:ea typeface="Arial"/>
                <a:cs typeface="Arial"/>
              </a:defRPr>
            </a:pPr>
            <a:r>
              <a:rPr sz="1950" b="1">
                <a:solidFill>
                  <a:srgbClr val="D7D2A8"/>
                </a:solidFill>
                <a:latin typeface="Arial"/>
                <a:ea typeface="Arial"/>
                <a:cs typeface="Arial"/>
              </a:rPr>
              <a:t>Model</a:t>
            </a:r>
          </a:p>
        </p:txBody>
      </p:sp>
      <p:sp>
        <p:nvSpPr>
          <p:cNvPr id="7" name="">
            <a:extLst xmlns:a="http://schemas.openxmlformats.org/drawingml/2006/main">
              <a:ext uri="{FF2B5EF4-FFF2-40B4-BE49-F238E27FC236}">
                <a16:creationId xmlns:a16="http://schemas.microsoft.com/office/drawing/2014/main" id="{08EE0FC6-CC59-46BB-B5B7-4E7F809013B8}"/>
              </a:ext>
            </a:extLst>
          </p:cNvPr>
          <p:cNvSpPr>
            <a:spLocks xmlns:a="http://schemas.openxmlformats.org/drawingml/2006/main" noGrp="1"/>
          </p:cNvSpPr>
          <p:nvPr/>
        </p:nvSpPr>
        <p:spPr>
          <a:xfrm xmlns:a="http://schemas.openxmlformats.org/drawingml/2006/main">
            <a:off x="2476500" y="4114800"/>
            <a:ext cx="819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FFFFFF"/>
                </a:solidFill>
                <a:latin typeface="Arial"/>
                <a:ea typeface="Arial"/>
                <a:cs typeface="Arial"/>
              </a:defRPr>
            </a:pPr>
            <a:r>
              <a:rPr sz="2175">
                <a:solidFill>
                  <a:srgbClr val="FFFFFF"/>
                </a:solidFill>
                <a:latin typeface="Arial"/>
                <a:ea typeface="Arial"/>
                <a:cs typeface="Arial"/>
              </a:rPr>
              <a:t>Borough coefficients remain near one, while several age-group associations are more pronounced.</a:t>
            </a:r>
          </a:p>
        </p:txBody>
      </p:sp>
      <p:sp>
        <p:nvSpPr>
          <p:cNvPr id="8" name="">
            <a:extLst xmlns:a="http://schemas.openxmlformats.org/drawingml/2006/main">
              <a:ext uri="{FF2B5EF4-FFF2-40B4-BE49-F238E27FC236}">
                <a16:creationId xmlns:a16="http://schemas.microsoft.com/office/drawing/2014/main" id="{4F6266EC-1AFE-4750-BC08-FDBDEFDDD1F7}"/>
              </a:ext>
            </a:extLst>
          </p:cNvPr>
          <p:cNvSpPr>
            <a:spLocks xmlns:a="http://schemas.openxmlformats.org/drawingml/2006/main" noGrp="1"/>
          </p:cNvSpPr>
          <p:nvPr/>
        </p:nvSpPr>
        <p:spPr>
          <a:xfrm xmlns:a="http://schemas.openxmlformats.org/drawingml/2006/main">
            <a:off x="800100" y="560070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DCE8E6"/>
                </a:solidFill>
                <a:latin typeface="Arial"/>
                <a:ea typeface="Arial"/>
                <a:cs typeface="Arial"/>
              </a:defRPr>
            </a:pPr>
            <a:r>
              <a:rPr sz="1800" b="1">
                <a:solidFill>
                  <a:srgbClr val="DCE8E6"/>
                </a:solidFill>
                <a:latin typeface="Arial"/>
                <a:ea typeface="Arial"/>
                <a:cs typeface="Arial"/>
              </a:rPr>
              <a:t>The findings describe patterns in the archived records. They do not establish causes.</a:t>
            </a:r>
          </a:p>
        </p:txBody>
      </p:sp>
      <p:sp>
        <p:nvSpPr>
          <p:cNvPr id="9" name="">
            <a:extLst xmlns:a="http://schemas.openxmlformats.org/drawingml/2006/main">
              <a:ext uri="{FF2B5EF4-FFF2-40B4-BE49-F238E27FC236}">
                <a16:creationId xmlns:a16="http://schemas.microsoft.com/office/drawing/2014/main" id="{4A95FE10-691B-473F-A567-9A452EF1C6CB}"/>
              </a:ext>
            </a:extLst>
          </p:cNvPr>
          <p:cNvSpPr>
            <a:spLocks xmlns:a="http://schemas.openxmlformats.org/drawingml/2006/main" noGrp="1"/>
          </p:cNvSpPr>
          <p:nvPr/>
        </p:nvSpPr>
        <p:spPr>
          <a:xfrm xmlns:a="http://schemas.openxmlformats.org/drawingml/2006/main">
            <a:off x="800100" y="64103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AFC2BF"/>
                </a:solidFill>
                <a:latin typeface="Arial"/>
                <a:ea typeface="Arial"/>
                <a:cs typeface="Arial"/>
              </a:defRPr>
            </a:pPr>
            <a:r>
              <a:rPr sz="1050">
                <a:solidFill>
                  <a:srgbClr val="AFC2BF"/>
                </a:solidFill>
                <a:latin typeface="Arial"/>
                <a:ea typeface="Arial"/>
                <a:cs typeface="Arial"/>
              </a:rPr>
              <a:t>Source: NYC Open Data / Data.gov</a:t>
            </a:r>
          </a:p>
        </p:txBody>
      </p:sp>
      <p:sp>
        <p:nvSpPr>
          <p:cNvPr id="10" name="">
            <a:extLst xmlns:a="http://schemas.openxmlformats.org/drawingml/2006/main">
              <a:ext uri="{FF2B5EF4-FFF2-40B4-BE49-F238E27FC236}">
                <a16:creationId xmlns:a16="http://schemas.microsoft.com/office/drawing/2014/main" id="{936D4500-646D-4DE6-85A6-0EE13DA3CA39}"/>
              </a:ext>
            </a:extLst>
          </p:cNvPr>
          <p:cNvSpPr>
            <a:spLocks xmlns:a="http://schemas.openxmlformats.org/drawingml/2006/main" noGrp="1"/>
          </p:cNvSpPr>
          <p:nvPr/>
        </p:nvSpPr>
        <p:spPr>
          <a:xfrm xmlns:a="http://schemas.openxmlformats.org/drawingml/2006/main">
            <a:off x="11315700" y="6429375"/>
            <a:ext cx="19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a:solidFill>
                  <a:srgbClr val="C7D3D1"/>
                </a:solidFill>
                <a:latin typeface="Arial"/>
                <a:ea typeface="Arial"/>
                <a:cs typeface="Arial"/>
              </a:defRPr>
            </a:pPr>
            <a:r>
              <a:rPr sz="1050">
                <a:solidFill>
                  <a:srgbClr val="C7D3D1"/>
                </a:solidFill>
                <a:latin typeface="Arial"/>
                <a:ea typeface="Arial"/>
                <a:cs typeface="Arial"/>
              </a:rPr>
              <a:t>8</a:t>
            </a:r>
          </a:p>
        </p:txBody>
      </p:sp>
    </p:spTree>
    <p:extLst>
      <p:ext uri="{BB962C8B-B14F-4D97-AF65-F5344CB8AC3E}">
        <p14:creationId xmlns:p14="http://schemas.microsoft.com/office/powerpoint/2010/main" val="1296177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2026-10-08T17:56:18.2600000Z</dcterms:created>
  <dcterms:modified xsi:type="dcterms:W3CDTF">2026-10-08T17:56:18.2600000Z</dcterms:modified>
</coreProperties>
</file>